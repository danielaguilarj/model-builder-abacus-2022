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993392"/>
            <a:ext cx="10058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200" b="1">
                <a:solidFill>
                  <a:srgbClr val="FFFFFF"/>
                </a:solidFill>
                <a:latin typeface="Arial"/>
              </a:rPr>
              <a:t>Model Builder 4.2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sz="2100" b="0">
                <a:solidFill>
                  <a:srgbClr val="9E9EA7"/>
                </a:solidFill>
                <a:latin typeface="Arial"/>
              </a:rPr>
              <a:t>Traceable automation of shaft–hub key joints
for Abaqus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74243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7C7C86"/>
                </a:solidFill>
                <a:latin typeface="Arial"/>
              </a:rPr>
              <a:t>DIN 6885-1  ·  DIN 6892 Methods A / B / C  ·  FVA 600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E9EA7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997FF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4241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A good keyway model is not the hard part.
Repeating it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09160"/>
            <a:ext cx="3246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Every model was rebuilt by hand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00" b="0">
                <a:solidFill>
                  <a:srgbClr val="9E9EA7"/>
                </a:solidFill>
                <a:latin typeface="Arial"/>
              </a:rPr>
              <a:t>the DIN table was read on paper and typed in case by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443984"/>
            <a:ext cx="822960" cy="25400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79392" y="4709160"/>
            <a:ext cx="3246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The mesh depended on its author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00" b="0">
                <a:solidFill>
                  <a:srgbClr val="9E9EA7"/>
                </a:solidFill>
                <a:latin typeface="Arial"/>
              </a:rPr>
              <a:t>with no explicit acceptance criterion and no record of attempts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9392" y="4443984"/>
            <a:ext cx="822960" cy="25400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81544" y="4709160"/>
            <a:ext cx="3246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The result could not be audited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00" b="0">
                <a:solidFill>
                  <a:srgbClr val="9E9EA7"/>
                </a:solidFill>
                <a:latin typeface="Arial"/>
              </a:rPr>
              <a:t>with no way to know which version, standard and assumptions produced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81544" y="4443984"/>
            <a:ext cx="822960" cy="25400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E9EA7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>
                <a:solidFill>
                  <a:srgbClr val="1D1D1F"/>
                </a:solidFill>
                <a:latin typeface="Arial"/>
              </a:rPr>
              <a:t>One tool, from the table in the standard
to the signed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697480"/>
            <a:ext cx="1371600" cy="1270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953512"/>
            <a:ext cx="193852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600" b="1">
                <a:solidFill>
                  <a:srgbClr val="1D1D1F"/>
                </a:solidFill>
                <a:latin typeface="Arial"/>
              </a:rPr>
              <a:t>14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50" b="1">
                <a:solidFill>
                  <a:srgbClr val="1D1D1F"/>
                </a:solidFill>
                <a:latin typeface="Arial"/>
              </a:rPr>
              <a:t>Python modules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86868B"/>
                </a:solidFill>
                <a:latin typeface="Arial"/>
              </a:rPr>
              <a:t>desktop, Abaqus kernel
and the shared 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2697480"/>
            <a:ext cx="1371600" cy="1270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2953512"/>
            <a:ext cx="193852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600" b="1">
                <a:solidFill>
                  <a:srgbClr val="1D1D1F"/>
                </a:solidFill>
                <a:latin typeface="Arial"/>
              </a:rPr>
              <a:t>26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50" b="1">
                <a:solidFill>
                  <a:srgbClr val="1D1D1F"/>
                </a:solidFill>
                <a:latin typeface="Arial"/>
              </a:rPr>
              <a:t>DIN 6885-1 rows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86868B"/>
                </a:solidFill>
                <a:latin typeface="Arial"/>
              </a:rPr>
              <a:t>transcribed with no extrapolation,
6 &lt; d1 ≤ 500 mm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60" y="2697480"/>
            <a:ext cx="1371600" cy="1270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2953512"/>
            <a:ext cx="193852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600" b="1">
                <a:solidFill>
                  <a:srgbClr val="1D1D1F"/>
                </a:solidFill>
                <a:latin typeface="Arial"/>
              </a:rPr>
              <a:t>8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50" b="1">
                <a:solidFill>
                  <a:srgbClr val="1D1D1F"/>
                </a:solidFill>
                <a:latin typeface="Arial"/>
              </a:rPr>
              <a:t>mesh templates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86868B"/>
                </a:solidFill>
                <a:latin typeface="Arial"/>
              </a:rPr>
              <a:t>with hard quality gates
and element budgets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2697480"/>
            <a:ext cx="1371600" cy="1270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2953512"/>
            <a:ext cx="193852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600" b="1">
                <a:solidFill>
                  <a:srgbClr val="1D1D1F"/>
                </a:solidFill>
                <a:latin typeface="Arial"/>
              </a:rPr>
              <a:t>4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50" b="1">
                <a:solidFill>
                  <a:srgbClr val="1D1D1F"/>
                </a:solidFill>
                <a:latin typeface="Arial"/>
              </a:rPr>
              <a:t>DIN 6892 methods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86868B"/>
                </a:solidFill>
                <a:latin typeface="Arial"/>
              </a:rPr>
              <a:t>A, B, B-FVA and C, evaluated
in parallel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55480" y="2697480"/>
            <a:ext cx="1371600" cy="12700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2953512"/>
            <a:ext cx="193852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600" b="1">
                <a:solidFill>
                  <a:srgbClr val="1D1D1F"/>
                </a:solidFill>
                <a:latin typeface="Arial"/>
              </a:rPr>
              <a:t>3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50" b="1">
                <a:solidFill>
                  <a:srgbClr val="1D1D1F"/>
                </a:solidFill>
                <a:latin typeface="Arial"/>
              </a:rPr>
              <a:t>languages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>
                <a:solidFill>
                  <a:srgbClr val="86868B"/>
                </a:solidFill>
                <a:latin typeface="Arial"/>
              </a:rPr>
              <a:t>Spanish, English and German
650 keys at parity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97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6868B"/>
                </a:solidFill>
                <a:latin typeface="Arial"/>
              </a:rPr>
              <a:t>Everything on these slides comes from running the code: the screenshots are of the real application and the figures are computed by the packaged engine.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ARCHITECTURE</a:t>
            </a:r>
          </a:p>
        </p:txBody>
      </p:sp>
      <p:pic>
        <p:nvPicPr>
          <p:cNvPr id="3" name="Picture 2" descr="dia_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226" y="1170432"/>
            <a:ext cx="9105243" cy="4727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601675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6868B"/>
                </a:solidFill>
                <a:latin typeface="Arial"/>
              </a:rPr>
              <a:t>A change to the DIN table or to a DIN 6892 factor is written once and reaches both interpreters.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HOW IT IS USED</a:t>
            </a:r>
          </a:p>
        </p:txBody>
      </p:sp>
      <p:pic>
        <p:nvPicPr>
          <p:cNvPr id="3" name="Picture 2" descr="dia_ta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65816"/>
            <a:ext cx="10637215" cy="2509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601675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6868B"/>
                </a:solidFill>
                <a:latin typeface="Arial"/>
              </a:rPr>
              <a:t>Six tabs in the order the decisions are actually made: the project first, then the normative geometry, and only at the end the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TAB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38862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D1D1F"/>
                </a:solidFill>
                <a:latin typeface="Arial"/>
              </a:rPr>
              <a:t>Project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Name, author and language are recorded in project.json: the report is issued in the project's language, not in the language of whoever opens it.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The Abaqus path is detected by looking for installed launchers, without executing any of them.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The default root folder is Documents/ModelBuilder Projects.</a:t>
            </a:r>
          </a:p>
        </p:txBody>
      </p:sp>
      <p:pic>
        <p:nvPicPr>
          <p:cNvPr id="4" name="Picture 3" descr="gui_01_proyec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990036"/>
            <a:ext cx="6812280" cy="4877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06440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6868B"/>
                </a:solidFill>
                <a:latin typeface="Arial"/>
              </a:rPr>
              <a:t>Real capture of the application, with the interface switched to English.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TAB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38862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D1D1F"/>
                </a:solidFill>
                <a:latin typeface="Arial"/>
              </a:rPr>
              <a:t>DIN geometry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On the left, the few independent parameters the user decides. On the right, everything the standard derives from them.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The right panel recomputes as you type: DIN row, lengths, hub, mesh plan and the complete validation list.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The green NORMATIVE badge means the geometry sits inside the envelope of the standard.</a:t>
            </a:r>
          </a:p>
        </p:txBody>
      </p:sp>
      <p:pic>
        <p:nvPicPr>
          <p:cNvPr id="4" name="Picture 3" descr="gui_02_geometria_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674652"/>
            <a:ext cx="6812280" cy="55086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06440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6868B"/>
                </a:solidFill>
                <a:latin typeface="Arial"/>
              </a:rPr>
              <a:t>d1 = 40 mm  ·  band 38 &lt; d1 ≤ 44  ·  b × h = 12 × 8  ·  DIN 6885-1 Form A 12 × 8 × 50.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TAB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38862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D1D1F"/>
                </a:solidFill>
                <a:latin typeface="Arial"/>
              </a:rPr>
              <a:t>Mesh and materials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The template is chosen by name; AUTO mode compares complete candidates per part and keeps the winner.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A seed left at 0 means automatic, and the rule follows the refinement: with the notch band on it is D/16 on the shaft and d_a/40 on the hub. The key is always b/20.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The quick pressure check is badged CORE-SCREENING: it is plausibility, not DIN 6892 Method B.</a:t>
            </a:r>
          </a:p>
        </p:txBody>
      </p:sp>
      <p:pic>
        <p:nvPicPr>
          <p:cNvPr id="4" name="Picture 3" descr="gui_03_malla_materi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990036"/>
            <a:ext cx="6812280" cy="4877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06440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6868B"/>
                </a:solidFill>
                <a:latin typeface="Arial"/>
              </a:rPr>
              <a:t>Here the template is HEX_CERTIFIED, in auto mode with 3 attempts.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TAB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38862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D1D1F"/>
                </a:solidFill>
                <a:latin typeface="Arial"/>
              </a:rPr>
              <a:t>Analysis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The analysis is optional and off by default: building and auditing does not require solving.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When enabled it creates general contact, a static TORSION step and a moment on the reference point of the drive end.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The mesh convergence study runs separately and writes its own CSV.</a:t>
            </a:r>
          </a:p>
        </p:txBody>
      </p:sp>
      <p:pic>
        <p:nvPicPr>
          <p:cNvPr id="4" name="Picture 3" descr="gui_04_anali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990036"/>
            <a:ext cx="6812280" cy="4877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06440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6868B"/>
                </a:solidFill>
                <a:latin typeface="Arial"/>
              </a:rPr>
              <a:t>Creating the job and submitting it to the solver are two separate checkboxes.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TAB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38862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D1D1F"/>
                </a:solidFill>
                <a:latin typeface="Arial"/>
              </a:rPr>
              <a:t>DIN 6892 / FVA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The method is chosen explicitly. Licensed factors that cannot be transcribed stay at 1.0 and the result is flagged PROVISIONAL_FACTORS.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N_W left blank means derive it from the load ratio R; a pulsating torque gives zero reversals and f_W = 1.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Method A is not computed here: a CSV from an already solved ODB is imported, with SHA-256 and coverage verified.</a:t>
            </a:r>
          </a:p>
        </p:txBody>
      </p:sp>
      <p:pic>
        <p:nvPicPr>
          <p:cNvPr id="4" name="Picture 3" descr="gui_05_din6892_f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674652"/>
            <a:ext cx="6812280" cy="55086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06440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6868B"/>
                </a:solidFill>
                <a:latin typeface="Arial"/>
              </a:rPr>
              <a:t>The selected standards are declared one by one, including the ones that are not implemented.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TAB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38862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D1D1F"/>
                </a:solidFill>
                <a:latin typeface="Arial"/>
              </a:rPr>
              <a:t>Run and evidence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The Abaqus log is streamed live to the window and to logs/abaqus.log, with the command and the working directory in the header.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When it finishes, the artifact list fills in with size and evidence badge; the buttons open the project, the report and the model.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Stop kills the solver process tree and marks the project CANCELLED.</a:t>
            </a:r>
          </a:p>
        </p:txBody>
      </p:sp>
      <p:pic>
        <p:nvPicPr>
          <p:cNvPr id="4" name="Picture 3" descr="gui_06_ejecutar_evide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674652"/>
            <a:ext cx="6812280" cy="55086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06440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6868B"/>
                </a:solidFill>
                <a:latin typeface="Arial"/>
              </a:rPr>
              <a:t>No solver file lands next to the executable: the subprocess runs with cwd = jobs/.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QUALITY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38862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D1D1F"/>
                </a:solidFill>
                <a:latin typeface="Arial"/>
              </a:rPr>
              <a:t>Validation speaks in codes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Every issue has a stable code, a canonical English message and a translated presentation. The code is what gets cited in the report and in a review.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The dialog reports the outcome, it does not dress it up: no errors, the warning count, and the reminder that the strength calculation stays labelled CORE-SCREENING.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An error blocks the build before Abaqus is touched; a warning informs and is recorded in the audit.</a:t>
            </a:r>
          </a:p>
        </p:txBody>
      </p:sp>
      <p:pic>
        <p:nvPicPr>
          <p:cNvPr id="4" name="Picture 3" descr="gui_07_valid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758754"/>
            <a:ext cx="6812280" cy="53404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06440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6868B"/>
                </a:solidFill>
                <a:latin typeface="Arial"/>
              </a:rPr>
              <a:t>By default: 0 errors and 3 warnings — a licensed factor still neutral, the optimistic equation 9, and a high axial aspect ratio expected at the notch.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EXECUTION FLOW</a:t>
            </a:r>
          </a:p>
        </p:txBody>
      </p:sp>
      <p:pic>
        <p:nvPicPr>
          <p:cNvPr id="3" name="Picture 2" descr="di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484"/>
            <a:ext cx="10637215" cy="40513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WHAT STAYS ON DISK</a:t>
            </a:r>
          </a:p>
        </p:txBody>
      </p:sp>
      <p:pic>
        <p:nvPicPr>
          <p:cNvPr id="3" name="Picture 2" descr="dia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294" y="1170432"/>
            <a:ext cx="8207107" cy="4727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STARTING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D1D1F"/>
                </a:solidFill>
                <a:latin typeface="Arial"/>
              </a:rPr>
              <a:t>Fifteen presets, none of which skips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00784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6E6E73"/>
                </a:solidFill>
                <a:latin typeface="Arial"/>
              </a:rPr>
              <a:t>A preset only sets parameters. It is then merged onto the defaults and re-derived and re-validated exactly as if it had been typed in by hand.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26700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5 geometry and analysis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D25 small joint, D40 validated default, D50 next DIN band, D40 quadratic C3D20 and D40 with torsion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0034" y="24871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9490" y="26700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8 mesh policies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One per template: hex certified, FVA Method A hybrid, balanced, quality critical, fast preview, hex dominant, quadratic accuracy and robust fallback.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2828" y="24871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2284" y="26700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2 FVA research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D40 1-cycle pre-solve and a 20-cycle D40 Method A setup whose matching must be verified at build time. Both with the solver deliberately 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334256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4517136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A preset is not a shortcut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It goes through the same gates: if the result leaves the normative envelope, the error blocks it just the same.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0034" y="4334256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9490" y="4517136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Saved and reloaded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The configuration round-trips to JSON, so a case can be handed over as a file and reproduced exactly.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2828" y="4334256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2284" y="4517136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The bundled presets are guarded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The publisher checks the two FVA companions field by field: they cannot change silently between versions.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350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6868B"/>
                </a:solidFill>
                <a:latin typeface="Arial"/>
              </a:rPr>
              <a:t>The mesh presets exist to make the policy explicit, not to hide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DESIGN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D1D1F"/>
                </a:solidFill>
                <a:latin typeface="Arial"/>
              </a:rPr>
              <a:t>What can be built, and what is deliberately refused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Key forms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A, B and AB implemented. C through J are refused with their own message: they need hole and chamfer dimensions that are not implemented.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0034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9490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Cylindrical or tapered hub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Tapered adds a fourth solid, the bushing, and switches off the notch band refinement; the model declares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2828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2284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Diameter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Continuous over 6 &lt; d1 &lt;= 500 mm, resolved to one of the 26 rows. Outside that it raises instead of approximating.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Element order and type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Linear or quadratic (default), C3D8/C3D8I or C3D20/C3D20R. C3D8R is accepted only as an explicit legacy choice, and it raises a warning.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0034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9490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Automatic seeds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With notch refinement, which is the default: D/16 on the shaft and d_a/40 on the hub. Without it, D/32 and d_a/80. The rule actually used is written into the audit.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2828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2284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Compliance mode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Normative or user override. Leaving the envelope is allowed; what is not allowed is for it to go unnoticed.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997FF"/>
                </a:solidFill>
                <a:latin typeface="Arial"/>
              </a:rPr>
              <a:t>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3840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Solids, not shells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</a:pPr>
            <a:r>
              <a:rPr sz="1250" b="0">
                <a:solidFill>
                  <a:srgbClr val="9E9EA7"/>
                </a:solidFill>
                <a:latin typeface="Arial"/>
              </a:rPr>
              <a:t>Shaft, key and hub are built as independent solids and assembled with the tolerances of the standard.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</a:pPr>
            <a:r>
              <a:rPr sz="1250" b="0">
                <a:solidFill>
                  <a:srgbClr val="9E9EA7"/>
                </a:solidFill>
                <a:latin typeface="Arial"/>
              </a:rPr>
              <a:t>This evidence shows a hexahedral mesh. Exact interface matching is not inferred from the image: the specialized Method A backend checks it by comparing node coordinates after meshing.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</a:pPr>
            <a:r>
              <a:rPr sz="1250" b="0">
                <a:solidFill>
                  <a:srgbClr val="9E9EA7"/>
                </a:solidFill>
                <a:latin typeface="Arial"/>
              </a:rPr>
              <a:t>This is the image the engine itself saves to screenshots/ when it finishes.</a:t>
            </a:r>
          </a:p>
        </p:txBody>
      </p:sp>
      <p:pic>
        <p:nvPicPr>
          <p:cNvPr id="4" name="Picture 3" descr="model_assembly_h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897" y="685800"/>
            <a:ext cx="6406845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E9EA7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THE DETAIL THAT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3840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D1D1F"/>
                </a:solidFill>
                <a:latin typeface="Arial"/>
              </a:rPr>
              <a:t>The keyway band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The section shows the band of finer elements around the keyway: not a uniformly denser mesh, but refinement where the gradient is.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The band width and the number of elements across the r2 fillet arc are parameters, and the audit checks that they were honoured.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</a:pPr>
            <a:r>
              <a:rPr sz="1250" b="0">
                <a:solidFill>
                  <a:srgbClr val="6E6E73"/>
                </a:solidFill>
                <a:latin typeface="Arial"/>
              </a:rPr>
              <a:t>The NOTCH_SHAFT element set is built around both keyway corners so the stress-concentration query cannot wander off to an unrelated hot spot.</a:t>
            </a:r>
          </a:p>
        </p:txBody>
      </p:sp>
      <p:pic>
        <p:nvPicPr>
          <p:cNvPr id="4" name="Picture 3" descr="model_notch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267" y="685800"/>
            <a:ext cx="6458105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MESH POLICY</a:t>
            </a:r>
          </a:p>
        </p:txBody>
      </p:sp>
      <p:pic>
        <p:nvPicPr>
          <p:cNvPr id="3" name="Picture 2" descr="dia_ma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618" y="1170432"/>
            <a:ext cx="8912458" cy="4727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MESH SELECTION</a:t>
            </a:r>
          </a:p>
        </p:txBody>
      </p:sp>
      <p:pic>
        <p:nvPicPr>
          <p:cNvPr id="3" name="Picture 2" descr="dia_mesh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6557"/>
            <a:ext cx="10637215" cy="43351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ANALYSIS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D1D1F"/>
                </a:solidFill>
                <a:latin typeface="Arial"/>
              </a:rPr>
              <a:t>If the analysis is requested, this is what gets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Contact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General contact with isotropic penalty friction and hard normal behaviour with separation allowed.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0034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9490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Drive end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Surface at the shaft end, a reference point and a kinematic coupling over the whole surface.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2828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2284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Held region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The hub outer diameter or both hub faces, encastred. A user choice, not a hidden assumption.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Step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Static TORSION step, with optional geometric nonlinearity and stabilization, and increment control from the 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0034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9490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Load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A moment about the shaft axis applied at the reference point; the guide point locks every degree of freedom except the rotation.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2828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2284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Output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Field S, U, E, RF, CSTRESS and CDISP at four intervals; history UR3 and RM3 at the reference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0350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6868B"/>
                </a:solidFill>
                <a:latin typeface="Arial"/>
              </a:rPr>
              <a:t>Creating the job and submitting it to the solver remain two separate decisions, and neither is the default.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TRACEABILITY</a:t>
            </a:r>
          </a:p>
        </p:txBody>
      </p:sp>
      <p:pic>
        <p:nvPicPr>
          <p:cNvPr id="3" name="Picture 2" descr="dia_bad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965" y="1170432"/>
            <a:ext cx="9937765" cy="4727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THE NORMATIVE DATUM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>
                <a:solidFill>
                  <a:srgbClr val="1D1D1F"/>
                </a:solidFill>
                <a:latin typeface="Arial"/>
              </a:rPr>
              <a:t>The table is never interpolated: either a row or an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00784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6E6E73"/>
                </a:solidFill>
                <a:latin typeface="Arial"/>
              </a:rPr>
              <a:t>din6885_row() returns the exact row with its NORMATIVE badge. Outside the range of the standard it raises, so nobody can claim DIN compliance from the nearest row.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2542032" cy="1627632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990088"/>
            <a:ext cx="2084832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D1D1F"/>
                </a:solidFill>
                <a:latin typeface="Arial"/>
              </a:rPr>
              <a:t>26   cross-section rows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b × h, t1, t2, the t1 tolerance and the d2 increment for every diameter band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788920"/>
            <a:ext cx="2542032" cy="1627632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2464" y="2990088"/>
            <a:ext cx="2084832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D1D1F"/>
                </a:solidFill>
                <a:latin typeface="Arial"/>
              </a:rPr>
              <a:t>34   standard lengths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from 6 to 400 mm; the key is snapped down, never 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788920"/>
            <a:ext cx="2542032" cy="1627632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2990088"/>
            <a:ext cx="2084832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D1D1F"/>
                </a:solidFill>
                <a:latin typeface="Arial"/>
              </a:rPr>
              <a:t>7   radius bands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mouth r1 and root r2 separately: they are not the same radius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2788920"/>
            <a:ext cx="2542032" cy="1627632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424" y="2990088"/>
            <a:ext cx="2084832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D1D1F"/>
                </a:solidFill>
                <a:latin typeface="Arial"/>
              </a:rPr>
              <a:t>3   forms implemented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A, B and AB. C through J are rejected with their own message, not silently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36592"/>
            <a:ext cx="106372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1D1F"/>
                </a:solidFill>
                <a:latin typeface="Arial"/>
              </a:rPr>
              <a:t>D40, the project's reference row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300" b="0">
                <a:solidFill>
                  <a:srgbClr val="6E6E73"/>
                </a:solidFill>
                <a:latin typeface="Consolas"/>
              </a:rPr>
              <a:t>38 &lt; d1 ≤ 44 mm     b × h = 12 × 8 mm     t1 = 5.00 +0.20 mm     t2 = 3.30 mm     d2(ref) = 48.00 mm     r1 = 0.25…0.40 mm     r2 = 0.16…0.25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436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6868B"/>
                </a:solidFill>
                <a:latin typeface="Arial"/>
              </a:rPr>
              <a:t>The key chamfer is not in the table: it is a user parameter (c = 0.8 mm by default) and the report says 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THE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D1D1F"/>
                </a:solidFill>
                <a:latin typeface="Arial"/>
              </a:rPr>
              <a:t>The file that says what was actually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Two formats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PARAM_BUILD_AUDIT.txt to read with your eyes and .json to process with a tool.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0034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9490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A verdict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OK or CHECK, and the same verdict is mirrored into the build result: there are not two versions of the truth.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2828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2284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Provenance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SHA-256 of the engine and core files that produced that model, not of whatever is on disk today.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Plan versus reality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The planned mesh and the realised one, part by part. If they disagree, the project is not declared sound.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0034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9490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Per part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Elements, quality score, hex share, aspect ratio, repairs and the attempt 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2828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2284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The issue list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Every warning with its stable code, plus the evidence badges and the sets and surfaces created.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THE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D1D1F"/>
                </a:solidFill>
                <a:latin typeface="Arial"/>
              </a:rPr>
              <a:t>The report is the product, not an extra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Ten sections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Project and provenance, scope, geometry, DIN 6892 and standards, validation, mesh and policy, checks, evidence, deliverables and limitations.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0034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9490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Three files and a log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report.tex to review, report.pdf to sign, report_data.json to process and latex_build.log to debug.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2828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2284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Trilingual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Emitted in the project's language, from the same 650-key catalogues the interface uses.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The badges survive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Every value reaches the PDF with its provenance badge as a coloured chip, not as a footnote.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0034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9490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Compilation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latexmk when available, two pdflatex passes otherwise, with no shell and a finite timeout.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2828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2284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With no LaTeX installed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It writes the .tex, says so with a translated message, and does not fail the build over something that is not the model's fault.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LOAD CAPACITY</a:t>
            </a:r>
          </a:p>
        </p:txBody>
      </p:sp>
      <p:pic>
        <p:nvPicPr>
          <p:cNvPr id="3" name="Picture 2" descr="dia_meto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88" y="1170432"/>
            <a:ext cx="10244119" cy="4727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RESULTS</a:t>
            </a:r>
          </a:p>
        </p:txBody>
      </p:sp>
      <p:pic>
        <p:nvPicPr>
          <p:cNvPr id="3" name="Picture 2" descr="chart_pa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92479"/>
            <a:ext cx="10637215" cy="46833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CORRECTION 1 OF 2</a:t>
            </a:r>
          </a:p>
        </p:txBody>
      </p:sp>
      <p:pic>
        <p:nvPicPr>
          <p:cNvPr id="3" name="Picture 2" descr="dia_t2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850" y="1170432"/>
            <a:ext cx="9093994" cy="4727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CORRECTION 2 OF 2</a:t>
            </a:r>
          </a:p>
        </p:txBody>
      </p:sp>
      <p:pic>
        <p:nvPicPr>
          <p:cNvPr id="3" name="Picture 2" descr="chart_f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838" y="1170432"/>
            <a:ext cx="10568019" cy="4727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OPEN FINDING</a:t>
            </a:r>
          </a:p>
        </p:txBody>
      </p:sp>
      <p:pic>
        <p:nvPicPr>
          <p:cNvPr id="3" name="Picture 2" descr="dia_eq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805" y="1170432"/>
            <a:ext cx="8840084" cy="4727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METHOD A</a:t>
            </a:r>
          </a:p>
        </p:txBody>
      </p:sp>
      <p:pic>
        <p:nvPicPr>
          <p:cNvPr id="3" name="Picture 2" descr="dia_method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75276"/>
            <a:ext cx="10637215" cy="41177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NUMERICAL CROSS-CHECK</a:t>
            </a:r>
          </a:p>
        </p:txBody>
      </p:sp>
      <p:pic>
        <p:nvPicPr>
          <p:cNvPr id="3" name="Picture 2" descr="dia_mat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09581"/>
            <a:ext cx="10637215" cy="42491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FVA 600 III CATALOGUE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D1D1F"/>
                </a:solidFill>
                <a:latin typeface="Arial"/>
              </a:rPr>
              <a:t>Eight discrete configurations, not a continuous domain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VB1 to VB8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Each variant fixes d_w, l_tr/d_w, Q_A, the interference, the load ratio R and the key 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0034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9490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They are points, not a range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The catalogue is documented as discrete research configurations: interpolating between them is not supported.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2828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2284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VB1, the reference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d_w = 40 mm, l_tr/d_w = 0.95, Q_A = 0.5, R = 0 and a form A key. It is the variant of the bundled presets.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Material models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Chaboche-Lemaitre combined on the shaft, UML Ramberg-Osgood on the hub and elastic-ideal-plastic on the key.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0034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9490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Matching mesh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Five interfaces verified after meshing, with a 0.8 mm target size and a 1e-6 mm tolerance.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2828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2284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MATCHED is earned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Only declared after comparing real node coordinates on every load-carrying interface. Equal seeding is not proof.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300" b="1">
                <a:solidFill>
                  <a:srgbClr val="1D1D1F"/>
                </a:solidFill>
                <a:latin typeface="Arial"/>
              </a:rPr>
              <a:t>What has been checked, and how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148840"/>
            <a:ext cx="685800" cy="279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Arial"/>
              </a:rPr>
              <a:t>Packaged self-test</a:t>
            </a:r>
          </a:p>
          <a:p>
            <a:pPr algn="l">
              <a:lnSpc>
                <a:spcPct val="132000"/>
              </a:lnSpc>
              <a:spcBef>
                <a:spcPts val="600"/>
              </a:spcBef>
            </a:pPr>
            <a:r>
              <a:rPr sz="1150" b="0">
                <a:solidFill>
                  <a:srgbClr val="6E6E73"/>
                </a:solidFill>
                <a:latin typeface="Arial"/>
              </a:rPr>
              <a:t>4.2 identity and schema 6, the 5→6 migration, DIN and FVA catalogues, golden calculations, eight mesh templates, reports in all three languages. Exits with code 0.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447288"/>
            <a:ext cx="685800" cy="279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630168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Arial"/>
              </a:rPr>
              <a:t>Parity across the three catalogues</a:t>
            </a:r>
          </a:p>
          <a:p>
            <a:pPr algn="l">
              <a:lnSpc>
                <a:spcPct val="132000"/>
              </a:lnSpc>
              <a:spcBef>
                <a:spcPts val="600"/>
              </a:spcBef>
            </a:pPr>
            <a:r>
              <a:rPr sz="1150" b="0">
                <a:solidFill>
                  <a:srgbClr val="6E6E73"/>
                </a:solidFill>
                <a:latin typeface="Arial"/>
              </a:rPr>
              <a:t>650 keys per language with no gaps; every validation code has its translated presentation.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745736"/>
            <a:ext cx="685800" cy="279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28616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Arial"/>
              </a:rPr>
              <a:t>Guarded configurations</a:t>
            </a:r>
          </a:p>
          <a:p>
            <a:pPr algn="l">
              <a:lnSpc>
                <a:spcPct val="132000"/>
              </a:lnSpc>
              <a:spcBef>
                <a:spcPts val="600"/>
              </a:spcBef>
            </a:pPr>
            <a:r>
              <a:rPr sz="1150" b="0">
                <a:solidFill>
                  <a:srgbClr val="6E6E73"/>
                </a:solidFill>
                <a:latin typeface="Arial"/>
              </a:rPr>
              <a:t>the defaults and the two packaged FVA companions validate under schema 6. The repository's 10-cycle setup is validated separately and is not packaged.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48840"/>
            <a:ext cx="685800" cy="279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33172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Arial"/>
              </a:rPr>
              <a:t>Compatibility with the kernel</a:t>
            </a:r>
          </a:p>
          <a:p>
            <a:pPr algn="l">
              <a:lnSpc>
                <a:spcPct val="132000"/>
              </a:lnSpc>
              <a:spcBef>
                <a:spcPts val="600"/>
              </a:spcBef>
            </a:pPr>
            <a:r>
              <a:rPr sz="1150" b="0">
                <a:solidFill>
                  <a:srgbClr val="6E6E73"/>
                </a:solidFill>
                <a:latin typeface="Arial"/>
              </a:rPr>
              <a:t>the six modules that run inside Abaqus were audited with AST: no f-strings, no annotations, only os, sys, json, math, time and hashlib. Division imported from __future__.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447288"/>
            <a:ext cx="685800" cy="279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630168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Arial"/>
              </a:rPr>
              <a:t>Artifact contract</a:t>
            </a:r>
          </a:p>
          <a:p>
            <a:pPr algn="l">
              <a:lnSpc>
                <a:spcPct val="132000"/>
              </a:lnSpc>
              <a:spcBef>
                <a:spcPts val="600"/>
              </a:spcBef>
            </a:pPr>
            <a:r>
              <a:rPr sz="1150" b="0">
                <a:solidFill>
                  <a:srgbClr val="6E6E73"/>
                </a:solidFill>
                <a:latin typeface="Arial"/>
              </a:rPr>
              <a:t>a project is declared sound only if the audit, BUILD_RESULT and all requested or required artifacts exist, and the realised mesh matches the planned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745736"/>
            <a:ext cx="685800" cy="279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928616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Arial"/>
              </a:rPr>
              <a:t>Figures locked in the test</a:t>
            </a:r>
          </a:p>
          <a:p>
            <a:pPr algn="l">
              <a:lnSpc>
                <a:spcPct val="132000"/>
              </a:lnSpc>
              <a:spcBef>
                <a:spcPts val="600"/>
              </a:spcBef>
            </a:pPr>
            <a:r>
              <a:rPr sz="1150" b="0">
                <a:solidFill>
                  <a:srgbClr val="6E6E73"/>
                </a:solidFill>
                <a:latin typeface="Arial"/>
              </a:rPr>
              <a:t>999.18 N·m hub-governed, t2tr = 3.141 mm, f_W from equation 3 and the K_λ domain.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4476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6868B"/>
                </a:solidFill>
                <a:latin typeface="Arial"/>
              </a:rPr>
              <a:t>What the self-test does not do, and says so: it does not start Abaqus, does not solve, does not compile LaTeX and does not validate an FVA specimen.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D1D1F"/>
                </a:solidFill>
                <a:latin typeface="Arial"/>
              </a:rPr>
              <a:t>Decisions that rule out whole classes of error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No shell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The launcher is built as an argument list; shell=True is never used and control characters are rejected.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0034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9490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Contained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The subprocess runs with cwd = jobs/ and artifact routes must be absolute: there is no fallback to the current directory.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2828" y="2011680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2284" y="2194560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Three NOJOB guards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No job objects, no solver files, plus an explicit configuration check.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Cancel means cancel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The whole solver process tree is killed and the project is marked CANCELLED, not finished.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0034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9490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Atomic writes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Every JSON is written to .tmp and renamed, so a crash cannot leave half a manifest.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2828" y="3858768"/>
            <a:ext cx="3411626" cy="1664208"/>
          </a:xfrm>
          <a:prstGeom prst="roundRect">
            <a:avLst>
              <a:gd name="adj" fmla="val 3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2284" y="4041648"/>
            <a:ext cx="297271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D1D1F"/>
                </a:solidFill>
                <a:latin typeface="Arial"/>
              </a:rPr>
              <a:t>Nothing licensed ships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50" b="0">
                <a:solidFill>
                  <a:srgbClr val="6E6E73"/>
                </a:solidFill>
                <a:latin typeface="Arial"/>
              </a:rPr>
              <a:t>DIN and FVA documents stay out of the package by whitelist, not by accident.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DISTRIBUTION</a:t>
            </a:r>
          </a:p>
        </p:txBody>
      </p:sp>
      <p:pic>
        <p:nvPicPr>
          <p:cNvPr id="3" name="Picture 2" descr="dia_rel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56351"/>
            <a:ext cx="10637215" cy="3955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71E3"/>
                </a:solidFill>
                <a:latin typeface="Arial"/>
              </a:rPr>
              <a:t>STATUS</a:t>
            </a:r>
          </a:p>
        </p:txBody>
      </p:sp>
      <p:pic>
        <p:nvPicPr>
          <p:cNvPr id="3" name="Picture 2" descr="dia_es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101" y="1170432"/>
            <a:ext cx="9447492" cy="4727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997FF"/>
                </a:solidFill>
                <a:latin typeface="Arial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FFFFFF"/>
                </a:solidFill>
                <a:latin typeface="Arial"/>
              </a:rPr>
              <a:t>Three decisions and one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997F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46888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Rebuild the executable</a:t>
            </a:r>
          </a:p>
          <a:p>
            <a:pPr algn="l">
              <a:lnSpc>
                <a:spcPct val="135000"/>
              </a:lnSpc>
              <a:spcBef>
                <a:spcPts val="700"/>
              </a:spcBef>
            </a:pPr>
            <a:r>
              <a:rPr sz="1250" b="0">
                <a:solidFill>
                  <a:srgbClr val="9E9EA7"/>
                </a:solidFill>
                <a:latin typeface="Arial"/>
              </a:rPr>
              <a:t>make_exe.bat, unchanged, from the full project tree. The published .exe predates both corrections: 17 of the 31 manifest entries have changed.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9424"/>
            <a:ext cx="10637215" cy="12700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76732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997FF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3767328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Settle the sign of equation 9</a:t>
            </a:r>
          </a:p>
          <a:p>
            <a:pPr algn="l">
              <a:lnSpc>
                <a:spcPct val="135000"/>
              </a:lnSpc>
              <a:spcBef>
                <a:spcPts val="700"/>
              </a:spcBef>
            </a:pPr>
            <a:r>
              <a:rPr sz="1250" b="0">
                <a:solidFill>
                  <a:srgbClr val="9E9EA7"/>
                </a:solidFill>
                <a:latin typeface="Arial"/>
              </a:rPr>
              <a:t>against the licensed DIN 6892 text. The sign changes the shaft depth and shaft component by 46.35%; in the bundled D40 default, the hub still governs at 999.18 N·m.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547872"/>
            <a:ext cx="10637215" cy="12700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65776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997FF"/>
                </a:solidFill>
                <a:latin typeface="Arial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5065776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Number the version</a:t>
            </a:r>
          </a:p>
          <a:p>
            <a:pPr algn="l">
              <a:lnSpc>
                <a:spcPct val="135000"/>
              </a:lnSpc>
              <a:spcBef>
                <a:spcPts val="700"/>
              </a:spcBef>
            </a:pPr>
            <a:r>
              <a:rPr sz="1250" b="0">
                <a:solidFill>
                  <a:srgbClr val="9E9EA7"/>
                </a:solidFill>
                <a:latin typeface="Arial"/>
              </a:rPr>
              <a:t>two executables that both report 4.2 and return different torques are an identity collision. My recommendation is 4.3.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846320"/>
            <a:ext cx="10637215" cy="12700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E9EA7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FFFFF"/>
                </a:solidFill>
                <a:latin typeface="Arial"/>
              </a:rPr>
              <a:t>The value is not the model.
It is being able to show how it was made.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1206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E9EA7"/>
                </a:solidFill>
                <a:latin typeface="Arial"/>
              </a:rPr>
              <a:t>Model Builder 4.2  ·  parameter schema 6  ·  din6892-methods-1.0  ·  auto-mesh-2.0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250" b="0">
                <a:solidFill>
                  <a:srgbClr val="7C7C86"/>
                </a:solidFill>
                <a:latin typeface="Arial"/>
              </a:rPr>
              <a:t>Every calculation can be traced to code; historical screenshots and renders are identified as source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3459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E9EA7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