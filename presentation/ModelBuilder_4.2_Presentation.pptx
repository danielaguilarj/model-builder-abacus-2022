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993392"/>
            <a:ext cx="100584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Model Builder 4.2</a:t>
            </a:r>
          </a:p>
          <a:p>
            <a:pPr algn="l">
              <a:lnSpc>
                <a:spcPct val="130000"/>
              </a:lnSpc>
              <a:spcBef>
                <a:spcPts val="1600"/>
              </a:spcBef>
            </a:pPr>
            <a:r>
              <a:rPr sz="2100" b="0">
                <a:solidFill>
                  <a:srgbClr val="9E9EA7"/>
                </a:solidFill>
                <a:latin typeface="Arial"/>
              </a:rPr>
              <a:t>Traceable automation of shaft–hub key joints
for Abaqus 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74243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7C7C86"/>
                </a:solidFill>
                <a:latin typeface="Arial"/>
              </a:rPr>
              <a:t>DIN 6885-1  ·  DIN 6892 Methods A / B / C  ·  FVA 600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424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A good keyway model is not the hard part.
Repeating it 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Every model was rebuilt by hand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the DIN table was read on paper and typed in case by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79392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The mesh depended on its author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with no explicit acceptance criterion and no record of attempts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9392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81544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The result could not be audited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with no way to know which version, standard and assumptions produced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81544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1D1D1F"/>
                </a:solidFill>
                <a:latin typeface="Arial"/>
              </a:rPr>
              <a:t>One tool, from the table in the standard
to the signed report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14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Python modules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desktop, Abaqus kernel
and the shared 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26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DIN 6885-1 rows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transcribed with no extrapolation,
6 &lt; d1 ≤ 500 mm</a:t>
            </a:r>
          </a:p>
        </p:txBody>
      </p:sp>
      <p:sp>
        <p:nvSpPr>
          <p:cNvPr id="8" name="Rectangle 7"/>
          <p:cNvSpPr/>
          <p:nvPr/>
        </p:nvSpPr>
        <p:spPr>
          <a:xfrm>
            <a:off x="516636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6636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8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mesh templates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with hard quality gates
and element budgets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2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092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4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DIN 6892 methods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A, B, B-FVA and C, evaluated
in parallel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5548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3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languages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Spanish, English and German
650 keys at parity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97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Everything on these slides comes from running the code: the screenshots are of the real application and the figures are computed by the packaged engine.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ARCHITECTURE</a:t>
            </a:r>
          </a:p>
        </p:txBody>
      </p:sp>
      <p:pic>
        <p:nvPicPr>
          <p:cNvPr id="3" name="Picture 2" descr="dia_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226" y="1170432"/>
            <a:ext cx="9105243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0167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A change to the DIN table or to a DIN 6892 factor is written once and reaches both interpreters.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HOW IT IS USED</a:t>
            </a:r>
          </a:p>
        </p:txBody>
      </p:sp>
      <p:pic>
        <p:nvPicPr>
          <p:cNvPr id="3" name="Picture 2" descr="dia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65816"/>
            <a:ext cx="10637215" cy="2509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0167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Six tabs in the order the decisions are actually made: the project first, then the normative geometry, and only at the end the run.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TAB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Project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Name, author and language are recorded in project.json: the report is issued in the project's language, not in the language of whoever opens it.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Abaqus path is detected by looking for installed launchers, without executing any of them.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default root folder is Documents/ModelBuilder Projects.</a:t>
            </a:r>
          </a:p>
        </p:txBody>
      </p:sp>
      <p:pic>
        <p:nvPicPr>
          <p:cNvPr id="4" name="Picture 3" descr="gui_01_proyec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Real capture of the application, with the interface switched to English.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TAB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DIN geometry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On the left, the few independent parameters the user decides. On the right, everything the standard derives from them.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right panel recomputes as you type: DIN row, lengths, hub, mesh plan and the complete validation list.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green NORMATIVE badge means the geometry sits inside the envelope of the standard.</a:t>
            </a:r>
          </a:p>
        </p:txBody>
      </p:sp>
      <p:pic>
        <p:nvPicPr>
          <p:cNvPr id="4" name="Picture 3" descr="gui_02_geometria_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d1 = 40 mm  ·  band 38 &lt; d1 ≤ 44  ·  b × h = 12 × 8  ·  DIN 6885-1 Form A 12 × 8 × 50.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TAB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Mesh and materials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template is chosen by name; AUTO mode compares complete candidates per part and keeps the winner.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Seeds left at 0 mean automatic: D/32 on the shaft, b/20 on the key, d_a/80 on the hub.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quick pressure check is badged CORE-SCREENING: it is plausibility, not DIN 6892 Method B.</a:t>
            </a:r>
          </a:p>
        </p:txBody>
      </p:sp>
      <p:pic>
        <p:nvPicPr>
          <p:cNvPr id="4" name="Picture 3" descr="gui_03_malla_materi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Here the template is HEX_CERTIFIED, in auto mode with 3 attempts.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TAB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Analysis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analysis is optional and off by default: building and auditing does not require solving.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When enabled it creates general contact, a static TORSION step and a moment on the reference point of the drive end.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mesh convergence study runs separately and writes its own CSV.</a:t>
            </a:r>
          </a:p>
        </p:txBody>
      </p:sp>
      <p:pic>
        <p:nvPicPr>
          <p:cNvPr id="4" name="Picture 3" descr="gui_04_anali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Creating the job and submitting it to the solver are two separate checkboxes.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TAB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DIN 6892 / FVA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method is chosen explicitly. Licensed factors that cannot be transcribed stay at 1.0 and the result is flagged PROVISIONAL_FACTORS.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N_W left blank means derive it from the load ratio R; a pulsating torque gives zero reversals and f_W = 1.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Method A is not computed here: a CSV from an already solved ODB is imported, with SHA-256 and coverage verified.</a:t>
            </a:r>
          </a:p>
        </p:txBody>
      </p:sp>
      <p:pic>
        <p:nvPicPr>
          <p:cNvPr id="4" name="Picture 3" descr="gui_05_din6892_f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The selected standards are declared one by one, including the ones that are not implemented.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TAB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Run and evidence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Abaqus log is streamed live to the window and to logs/abaqus.log, with the command and the working directory in the header.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When it finishes, the artifact list fills in with size and evidence badge; the buttons open the project, the report and the model.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Stop kills the solver process tree and marks the project CANCELLED.</a:t>
            </a:r>
          </a:p>
        </p:txBody>
      </p:sp>
      <p:pic>
        <p:nvPicPr>
          <p:cNvPr id="4" name="Picture 3" descr="gui_06_ejecutar_evidenc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No solver file lands next to the executable: the subprocess runs with cwd = jobs/.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QUALITY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Validation speaks in codes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Every issue has a stable code, a canonical English message and a translated presentation. The code is what gets cited in the report and in a review.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three new warnings are visible here: a licensed factor still neutral, the optimistic equation 9, and N_W derived from R.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An error blocks the build before Abaqus is touched; a warning informs and is recorded.</a:t>
            </a:r>
          </a:p>
        </p:txBody>
      </p:sp>
      <p:pic>
        <p:nvPicPr>
          <p:cNvPr id="4" name="Picture 3" descr="gui_07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758754"/>
            <a:ext cx="6812280" cy="53404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0 errors and 3 warnings in the default configuration.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EXECUTION FLOW</a:t>
            </a:r>
          </a:p>
        </p:txBody>
      </p:sp>
      <p:pic>
        <p:nvPicPr>
          <p:cNvPr id="3" name="Picture 2" descr="dia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08484"/>
            <a:ext cx="10637215" cy="40513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WHAT STAYS ON DISK</a:t>
            </a:r>
          </a:p>
        </p:txBody>
      </p:sp>
      <p:pic>
        <p:nvPicPr>
          <p:cNvPr id="3" name="Picture 2" descr="dia_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294" y="1170432"/>
            <a:ext cx="8207107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40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Solids, not shells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Shaft, key and hub are built as independent solids and assembled with the tolerances of the standard.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The mesh is hexahedral and matching on the interfaces that carry load.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This is the image the engine itself saves to screenshots/ when it finishes.</a:t>
            </a:r>
          </a:p>
        </p:txBody>
      </p:sp>
      <p:pic>
        <p:nvPicPr>
          <p:cNvPr id="4" name="Picture 3" descr="model_assembly_h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897" y="685800"/>
            <a:ext cx="6406845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THE DETAIL THAT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40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D1D1F"/>
                </a:solidFill>
                <a:latin typeface="Arial"/>
              </a:rPr>
              <a:t>The keyway band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section shows the band of finer elements around the keyway: not a uniformly denser mesh, but refinement where the gradient is.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band width and the number of elements across the r2 fillet arc are parameters, and the audit checks that they were honoured.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NOTCH_SHAFT element set is built around both keyway corners so the stress-concentration query cannot wander off to an unrelated hot spot.</a:t>
            </a:r>
          </a:p>
        </p:txBody>
      </p:sp>
      <p:pic>
        <p:nvPicPr>
          <p:cNvPr id="4" name="Picture 3" descr="model_notch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267" y="685800"/>
            <a:ext cx="6458105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MESH POLICY</a:t>
            </a:r>
          </a:p>
        </p:txBody>
      </p:sp>
      <p:pic>
        <p:nvPicPr>
          <p:cNvPr id="3" name="Picture 2" descr="dia_ma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618" y="1170432"/>
            <a:ext cx="8912458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TRACEABILITY</a:t>
            </a:r>
          </a:p>
        </p:txBody>
      </p:sp>
      <p:pic>
        <p:nvPicPr>
          <p:cNvPr id="3" name="Picture 2" descr="dia_bad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965" y="1170432"/>
            <a:ext cx="9937765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THE NORMATIVE DATUM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1D1D1F"/>
                </a:solidFill>
                <a:latin typeface="Arial"/>
              </a:rPr>
              <a:t>The table is never interpolated: either a row or an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0078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6E6E73"/>
                </a:solidFill>
                <a:latin typeface="Arial"/>
              </a:rPr>
              <a:t>din6885_row() returns the exact row with its NORMATIVE badge. Outside the range of the standard it raises, so nobody can claim DIN compliance from the nearest row.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26   cross-section rows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b × h, t1, t2, the t1 tolerance and the d2 increment for every diameter band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1246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34   standard lengths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from 6 to 400 mm; the key is snapped down, never 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994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7   radius bands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mouth r1 and root r2 separately: they are not the same radius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742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3   forms implemented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A, B and AB. C through J are rejected with their own message, not silently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736592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D40, the project's reference row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300" b="0">
                <a:solidFill>
                  <a:srgbClr val="6E6E73"/>
                </a:solidFill>
                <a:latin typeface="Consolas"/>
              </a:rPr>
              <a:t>38 &lt; d1 ≤ 44 mm     b × h = 12 × 8 mm     t1 = 5.00 +0.20 mm     t2 = 3.30 mm     d2(ref) = 48.00 mm     r1 = 0.25…0.40 mm     r2 = 0.16…0.25 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436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The key chamfer is not in the table: it is a user parameter (c = 0.8 mm by default) and the report says so.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LOAD CAPACITY</a:t>
            </a:r>
          </a:p>
        </p:txBody>
      </p:sp>
      <p:pic>
        <p:nvPicPr>
          <p:cNvPr id="3" name="Picture 2" descr="dia_met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788" y="1170432"/>
            <a:ext cx="10244119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RESULTS</a:t>
            </a:r>
          </a:p>
        </p:txBody>
      </p:sp>
      <p:pic>
        <p:nvPicPr>
          <p:cNvPr id="3" name="Picture 2" descr="chart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92479"/>
            <a:ext cx="10637215" cy="468335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CORRECTION 1 OF 2</a:t>
            </a:r>
          </a:p>
        </p:txBody>
      </p:sp>
      <p:pic>
        <p:nvPicPr>
          <p:cNvPr id="3" name="Picture 2" descr="dia_t2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850" y="1170432"/>
            <a:ext cx="9093994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CORRECTION 2 OF 2</a:t>
            </a:r>
          </a:p>
        </p:txBody>
      </p:sp>
      <p:pic>
        <p:nvPicPr>
          <p:cNvPr id="3" name="Picture 2" descr="chart_f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838" y="1170432"/>
            <a:ext cx="10568019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OPEN FINDING</a:t>
            </a:r>
          </a:p>
        </p:txBody>
      </p:sp>
      <p:pic>
        <p:nvPicPr>
          <p:cNvPr id="3" name="Picture 2" descr="dia_eq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5805" y="1170432"/>
            <a:ext cx="8840084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1D1D1F"/>
                </a:solidFill>
                <a:latin typeface="Arial"/>
              </a:rPr>
              <a:t>What has been checked, and how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Packaged self-test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4.2 identity and schema 6, the 5→6 migration, DIN and FVA catalogues, golden calculations, six mesh templates, reports in all three languages. Exits with code 0.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447288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Parity across the three catalogues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650 keys per language with no gaps; every validation code has its translated presentation.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45736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28616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All four presets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normalize and validate under schema 6 with zero errors, including the 10-cycle solving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48840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33172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Compatibility with the kernel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the six modules that run inside Abaqus were audited with AST: no f-strings, no annotations, only os, sys, json, math, time and hashlib. Division imported from __future__.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447288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3630168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Artifact contract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a project is declared sound only if the audit, BUILD_RESULT, CAE, screenshots and report all exist, and the realised mesh matches the planned 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745736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4928616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Figures locked in the test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999.18 N·m hub-governed, t2tr = 3.141 mm, f_W from equation 3 and the K_λ domain.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14476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What the self-test does not do, and says so: it does not start Abaqus, does not solve, does not compile LaTeX and does not validate an FVA specimen.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DISTRIBUTION</a:t>
            </a:r>
          </a:p>
        </p:txBody>
      </p:sp>
      <p:pic>
        <p:nvPicPr>
          <p:cNvPr id="3" name="Picture 2" descr="dia_rele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6351"/>
            <a:ext cx="10637215" cy="39556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STATUS</a:t>
            </a:r>
          </a:p>
        </p:txBody>
      </p:sp>
      <p:pic>
        <p:nvPicPr>
          <p:cNvPr id="3" name="Picture 2" descr="dia_e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101" y="1170432"/>
            <a:ext cx="9447492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>
                <a:solidFill>
                  <a:srgbClr val="FFFFFF"/>
                </a:solidFill>
                <a:latin typeface="Arial"/>
              </a:rPr>
              <a:t>Three decisions and one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24688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Rebuild the executable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make_exe.bat, unchanged, from the full project tree. The published .exe predates both corrections: 17 of the 31 manifest entries have changed.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9424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6732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3767328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Settle the sign of equation 9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against the licensed DIN 6892 text. If the minus sign is right, the real allowable torque drops another 46 %.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547872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065776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5065776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Number the version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two executables that both report 4.2 and return different torques are an identity collision. My recommendation is 4.3.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46320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10058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FFFFFF"/>
                </a:solidFill>
                <a:latin typeface="Arial"/>
              </a:rPr>
              <a:t>The value is not the model.
It is being able to show how it was made.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1206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E9EA7"/>
                </a:solidFill>
                <a:latin typeface="Arial"/>
              </a:rPr>
              <a:t>Model Builder 4.2  ·  parameter schema 6  ·  din6892-methods-1.0  ·  auto-mesh-2.0</a:t>
            </a:r>
          </a:p>
          <a:p>
            <a:pPr algn="l">
              <a:lnSpc>
                <a:spcPct val="100000"/>
              </a:lnSpc>
              <a:spcBef>
                <a:spcPts val="800"/>
              </a:spcBef>
            </a:pPr>
            <a:r>
              <a:rPr sz="1250" b="0">
                <a:solidFill>
                  <a:srgbClr val="7C7C86"/>
                </a:solidFill>
                <a:latin typeface="Arial"/>
              </a:rPr>
              <a:t>Every number in this deck is reproducible by running the code in the repository.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