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993392"/>
            <a:ext cx="100584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200" b="1">
                <a:solidFill>
                  <a:srgbClr val="FFFFFF"/>
                </a:solidFill>
                <a:latin typeface="Arial"/>
              </a:rPr>
              <a:t>Model Builder 4.2</a:t>
            </a:r>
          </a:p>
          <a:p>
            <a:pPr algn="l">
              <a:lnSpc>
                <a:spcPct val="130000"/>
              </a:lnSpc>
              <a:spcBef>
                <a:spcPts val="1600"/>
              </a:spcBef>
            </a:pPr>
            <a:r>
              <a:rPr sz="2100" b="0">
                <a:solidFill>
                  <a:srgbClr val="9E9EA7"/>
                </a:solidFill>
                <a:latin typeface="Arial"/>
              </a:rPr>
              <a:t>Automatización trazable de uniones eje–cubo con chaveta
para Abaqus 2022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74243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7C7C86"/>
                </a:solidFill>
                <a:latin typeface="Arial"/>
              </a:rPr>
              <a:t>DIN 6885-1  ·  DIN 6892 Métodos A / B / C  ·  FVA 600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E9EA7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997FF"/>
                </a:solidFill>
                <a:latin typeface="Arial"/>
              </a:rPr>
              <a:t>EL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10424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Un modelo de chavetero bien hecho
no es difícil: es difícil de repetir.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09160"/>
            <a:ext cx="3246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Cada modelo se rehacía a mano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200" b="0">
                <a:solidFill>
                  <a:srgbClr val="9E9EA7"/>
                </a:solidFill>
                <a:latin typeface="Arial"/>
              </a:rPr>
              <a:t>la tabla DIN se consultaba en papel y se teclaba caso por caso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443984"/>
            <a:ext cx="822960" cy="25400"/>
          </a:xfrm>
          <a:prstGeom prst="rect">
            <a:avLst/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79392" y="4709160"/>
            <a:ext cx="3246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La malla dependía del autor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200" b="0">
                <a:solidFill>
                  <a:srgbClr val="9E9EA7"/>
                </a:solidFill>
                <a:latin typeface="Arial"/>
              </a:rPr>
              <a:t>sin criterio de aceptación explícito ni registro de intentos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279392" y="4443984"/>
            <a:ext cx="822960" cy="25400"/>
          </a:xfrm>
          <a:prstGeom prst="rect">
            <a:avLst/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81544" y="4709160"/>
            <a:ext cx="3246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El resultado no se podía auditar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200" b="0">
                <a:solidFill>
                  <a:srgbClr val="9E9EA7"/>
                </a:solidFill>
                <a:latin typeface="Arial"/>
              </a:rPr>
              <a:t>sin saber qué versión, qué norma y qué hipótesis lo produjeron</a:t>
            </a:r>
          </a:p>
        </p:txBody>
      </p:sp>
      <p:sp>
        <p:nvSpPr>
          <p:cNvPr id="9" name="Rectangle 8"/>
          <p:cNvSpPr/>
          <p:nvPr/>
        </p:nvSpPr>
        <p:spPr>
          <a:xfrm>
            <a:off x="7781544" y="4443984"/>
            <a:ext cx="822960" cy="25400"/>
          </a:xfrm>
          <a:prstGeom prst="rect">
            <a:avLst/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E9EA7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QUÉ 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3268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100" b="1">
                <a:solidFill>
                  <a:srgbClr val="1D1D1F"/>
                </a:solidFill>
                <a:latin typeface="Arial"/>
              </a:rPr>
              <a:t>Una sola herramienta desde la tabla de la norma
hasta el informe firmado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697480"/>
            <a:ext cx="1371600" cy="12700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953512"/>
            <a:ext cx="193852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600" b="1">
                <a:solidFill>
                  <a:srgbClr val="1D1D1F"/>
                </a:solidFill>
                <a:latin typeface="Arial"/>
              </a:rPr>
              <a:t>14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50" b="1">
                <a:solidFill>
                  <a:srgbClr val="1D1D1F"/>
                </a:solidFill>
                <a:latin typeface="Arial"/>
              </a:rPr>
              <a:t>módulos de Python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86868B"/>
                </a:solidFill>
                <a:latin typeface="Arial"/>
              </a:rPr>
              <a:t>escritorio, kernel de Abaqus
y núcleo compartido</a:t>
            </a:r>
          </a:p>
        </p:txBody>
      </p:sp>
      <p:sp>
        <p:nvSpPr>
          <p:cNvPr id="6" name="Rectangle 5"/>
          <p:cNvSpPr/>
          <p:nvPr/>
        </p:nvSpPr>
        <p:spPr>
          <a:xfrm>
            <a:off x="2971800" y="2697480"/>
            <a:ext cx="1371600" cy="12700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71800" y="2953512"/>
            <a:ext cx="193852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600" b="1">
                <a:solidFill>
                  <a:srgbClr val="1D1D1F"/>
                </a:solidFill>
                <a:latin typeface="Arial"/>
              </a:rPr>
              <a:t>26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50" b="1">
                <a:solidFill>
                  <a:srgbClr val="1D1D1F"/>
                </a:solidFill>
                <a:latin typeface="Arial"/>
              </a:rPr>
              <a:t>filas DIN 6885-1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86868B"/>
                </a:solidFill>
                <a:latin typeface="Arial"/>
              </a:rPr>
              <a:t>transcritas sin extrapolar,
6 &lt; d1 ≤ 500 mm</a:t>
            </a:r>
          </a:p>
        </p:txBody>
      </p:sp>
      <p:sp>
        <p:nvSpPr>
          <p:cNvPr id="8" name="Rectangle 7"/>
          <p:cNvSpPr/>
          <p:nvPr/>
        </p:nvSpPr>
        <p:spPr>
          <a:xfrm>
            <a:off x="5166360" y="2697480"/>
            <a:ext cx="1371600" cy="12700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66360" y="2953512"/>
            <a:ext cx="193852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600" b="1">
                <a:solidFill>
                  <a:srgbClr val="1D1D1F"/>
                </a:solidFill>
                <a:latin typeface="Arial"/>
              </a:rPr>
              <a:t>8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50" b="1">
                <a:solidFill>
                  <a:srgbClr val="1D1D1F"/>
                </a:solidFill>
                <a:latin typeface="Arial"/>
              </a:rPr>
              <a:t>plantillas de malla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86868B"/>
                </a:solidFill>
                <a:latin typeface="Arial"/>
              </a:rPr>
              <a:t>con puertas de calidad duras
y presupuesto de elementos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60920" y="2697480"/>
            <a:ext cx="1371600" cy="12700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60920" y="2953512"/>
            <a:ext cx="193852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600" b="1">
                <a:solidFill>
                  <a:srgbClr val="1D1D1F"/>
                </a:solidFill>
                <a:latin typeface="Arial"/>
              </a:rPr>
              <a:t>4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50" b="1">
                <a:solidFill>
                  <a:srgbClr val="1D1D1F"/>
                </a:solidFill>
                <a:latin typeface="Arial"/>
              </a:rPr>
              <a:t>métodos DIN 6892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86868B"/>
                </a:solidFill>
                <a:latin typeface="Arial"/>
              </a:rPr>
              <a:t>A, B, B-FVA y C, calculados
en paralelo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555480" y="2697480"/>
            <a:ext cx="1371600" cy="12700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55480" y="2953512"/>
            <a:ext cx="193852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600" b="1">
                <a:solidFill>
                  <a:srgbClr val="1D1D1F"/>
                </a:solidFill>
                <a:latin typeface="Arial"/>
              </a:rPr>
              <a:t>3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50" b="1">
                <a:solidFill>
                  <a:srgbClr val="1D1D1F"/>
                </a:solidFill>
                <a:latin typeface="Arial"/>
              </a:rPr>
              <a:t>idiomas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86868B"/>
                </a:solidFill>
                <a:latin typeface="Arial"/>
              </a:rPr>
              <a:t>español, inglés y alemán
650 claves con paridad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97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6868B"/>
                </a:solidFill>
                <a:latin typeface="Arial"/>
              </a:rPr>
              <a:t>Todo lo que se ve en estas diapositivas sale de ejecutar el código: las capturas son de la aplicación real y las cifras las calcula el motor empaquetado.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ARQUITECTURA</a:t>
            </a:r>
          </a:p>
        </p:txBody>
      </p:sp>
      <p:pic>
        <p:nvPicPr>
          <p:cNvPr id="3" name="Picture 2" descr="dia_arquitec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3226" y="1170432"/>
            <a:ext cx="9105243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6016752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6868B"/>
                </a:solidFill>
                <a:latin typeface="Arial"/>
              </a:rPr>
              <a:t>Un cambio en la tabla DIN o en un factor de DIN 6892 se escribe una sola vez y llega a los dos intérpretes.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CÓMO SE USA</a:t>
            </a:r>
          </a:p>
        </p:txBody>
      </p:sp>
      <p:pic>
        <p:nvPicPr>
          <p:cNvPr id="3" name="Picture 2" descr="dia_ta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65816"/>
            <a:ext cx="10637215" cy="2509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6016752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6868B"/>
                </a:solidFill>
                <a:latin typeface="Arial"/>
              </a:rPr>
              <a:t>Seis pestañas en el orden en que se toman las decisiones: primero el proyecto, después la geometría normativa, y sólo al final la ejecución.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PESTAÑA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Proyecto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Nombre, autor e idioma quedan grabados en project.json: el informe se emite en el idioma del proyecto, no en el de quien lo abre.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La ruta de Abaqus se detecta buscando los lanzadores instalados, sin ejecutar ninguno.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La carpeta raíz por defecto es Documentos/ModelBuilder Projects.</a:t>
            </a:r>
          </a:p>
        </p:txBody>
      </p:sp>
      <p:pic>
        <p:nvPicPr>
          <p:cNvPr id="4" name="Picture 3" descr="gui_01_proyec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990036"/>
            <a:ext cx="6812280" cy="4877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Captura real de la aplicación, idioma por defecto español.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PESTAÑA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Geometría DIN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A la izquierda, los pocos parámetros independientes que el usuario decide. A la derecha, todo lo que la norma deriva de ellos.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El panel derecho se recalcula al teclear: fila DIN, longitudes, cubo, plan de malla y la lista de validación completa.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La etiqueta NORMATIVE en verde indica que la geometría está dentro del sobre de la norma.</a:t>
            </a:r>
          </a:p>
        </p:txBody>
      </p:sp>
      <p:pic>
        <p:nvPicPr>
          <p:cNvPr id="4" name="Picture 3" descr="gui_02_geometria_d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674652"/>
            <a:ext cx="6812280" cy="55086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d1 = 40 mm  ·  banda 38 &lt; d1 ≤ 44  ·  b × h = 12 × 8  ·  DIN 6885-1 Form A 12 × 8 × 50.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PESTAÑA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Malla y materiales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La plantilla se elige por nombre; el modo AUTO compara candidatos completos por pieza y conserva el ganador.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Las semillas en 0 significan automático: D/32 en el eje, b/20 en la chaveta, d_a/80 en el cubo.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El criterio rápido de presión está marcado CORE-SCREENING: es plausibilidad, no DIN 6892 Método B.</a:t>
            </a:r>
          </a:p>
        </p:txBody>
      </p:sp>
      <p:pic>
        <p:nvPicPr>
          <p:cNvPr id="4" name="Picture 3" descr="gui_03_malla_materi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990036"/>
            <a:ext cx="6812280" cy="4877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Aquí la plantilla es HEX_CERTIFIED, en modo auto y con 3 intentos.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PESTAÑA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Análisis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El análisis es opcional y está desactivado por defecto: construir y auditar no requiere resolver.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Si se activa, se crea contacto general, un step estático TORSION y un momento sobre el punto de referencia del extremo motriz.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El estudio de convergencia de malla se lanza aparte y escribe su propio CSV.</a:t>
            </a:r>
          </a:p>
        </p:txBody>
      </p:sp>
      <p:pic>
        <p:nvPicPr>
          <p:cNvPr id="4" name="Picture 3" descr="gui_04_anali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990036"/>
            <a:ext cx="6812280" cy="4877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Crear el job y enviarlo al solver son dos casillas distintas.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PESTAÑA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DIN 6892 / FVA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El método se elige explícitamente. Los factores licenciados que no se pueden transcribir se quedan en 1,0 y el resultado se marca PROVISIONAL_FACTORS.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N_W en blanco significa deducir de la razón de carga R; con un par pulsante da cero inversiones y f_W = 1.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El Método A no se calcula aquí: se importa un CSV de un ODB ya resuelto, con SHA-256 y cobertura verificadas.</a:t>
            </a:r>
          </a:p>
        </p:txBody>
      </p:sp>
      <p:pic>
        <p:nvPicPr>
          <p:cNvPr id="4" name="Picture 3" descr="gui_05_din6892_f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674652"/>
            <a:ext cx="6812280" cy="55086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Las normas seleccionadas se declaran una por una, incluidas las que no están implementadas.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PESTAÑA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Ejecutar y evidencias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El log de Abaqus se transmite en vivo a la ventana y al archivo logs/abaqus.log, con el comando y el directorio de trabajo en la cabecera.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Al terminar, la lista de artefactos se rellena con tamaño y etiqueta de evidencia; los botones abren el proyecto, el informe y el modelo.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Detener mata el árbol de procesos del solver y marca el proyecto como CANCELLED.</a:t>
            </a:r>
          </a:p>
        </p:txBody>
      </p:sp>
      <p:pic>
        <p:nvPicPr>
          <p:cNvPr id="4" name="Picture 3" descr="gui_06_ejecutar_evidenc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674652"/>
            <a:ext cx="6812280" cy="55086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Ningún archivo de solver cae junto al ejecutable: el subproceso corre con cwd = jobs/.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CONTROL DE CALIDAD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La validación habla en códigos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Cada aviso tiene un código estable, un mensaje canónico en inglés y una presentación traducida. El código es el que se cita en el informe y en una revisión.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Aquí se ven los tres avisos nuevos: un factor licenciado todavía neutro, la ecuación 9 optimista y N_W deducido de R.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Un error bloquea la construcción antes de tocar Abaqus; una advertencia informa y queda registrada.</a:t>
            </a:r>
          </a:p>
        </p:txBody>
      </p:sp>
      <p:pic>
        <p:nvPicPr>
          <p:cNvPr id="4" name="Picture 3" descr="gui_07_valid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758754"/>
            <a:ext cx="6812280" cy="53404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0 errores y 3 advertencias en la configuración por defecto.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FLUJO DE EJECUCIÓN</a:t>
            </a:r>
          </a:p>
        </p:txBody>
      </p:sp>
      <p:pic>
        <p:nvPicPr>
          <p:cNvPr id="3" name="Picture 2" descr="dia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08484"/>
            <a:ext cx="10637215" cy="40513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LO QUE QUEDA EN DISCO</a:t>
            </a:r>
          </a:p>
        </p:txBody>
      </p:sp>
      <p:pic>
        <p:nvPicPr>
          <p:cNvPr id="3" name="Picture 2" descr="dia_work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2294" y="1170432"/>
            <a:ext cx="8207107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997FF"/>
                </a:solidFill>
                <a:latin typeface="Arial"/>
              </a:rPr>
              <a:t>EL RESULTADO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404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Arial"/>
              </a:rPr>
              <a:t>Sólidos, no cascarones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250" b="0">
                <a:solidFill>
                  <a:srgbClr val="9E9EA7"/>
                </a:solidFill>
                <a:latin typeface="Arial"/>
              </a:rPr>
              <a:t>Eje, chaveta y cubo se construyen como volúmenes independientes y se ensamblan con las tolerancias de la norma.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250" b="0">
                <a:solidFill>
                  <a:srgbClr val="9E9EA7"/>
                </a:solidFill>
                <a:latin typeface="Arial"/>
              </a:rPr>
              <a:t>La malla es hexaédrica y coincidente en las interfaces que transmiten carga.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250" b="0">
                <a:solidFill>
                  <a:srgbClr val="9E9EA7"/>
                </a:solidFill>
                <a:latin typeface="Arial"/>
              </a:rPr>
              <a:t>La captura es la imagen que el propio motor guarda en screenshots/ al terminar.</a:t>
            </a:r>
          </a:p>
        </p:txBody>
      </p:sp>
      <p:pic>
        <p:nvPicPr>
          <p:cNvPr id="4" name="Picture 3" descr="model_assembly_h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1897" y="685800"/>
            <a:ext cx="6406845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E9EA7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EL DETALLE QUE IMPORTA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404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D1D1F"/>
                </a:solidFill>
                <a:latin typeface="Arial"/>
              </a:rPr>
              <a:t>La banda del chavetero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En la sección se ve la banda de elementos más finos que rodea la ranura: no es una malla uniforme más densa, es refinamiento donde está el gradiente.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El ancho de la banda y el número de elementos sobre el arco del radio r2 son parámetros, y la auditoría comprueba que se hayan cumplido.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El conjunto de elementos NOTCH_SHAFT se construye alrededor de las dos esquinas del chavetero para que la consulta de concentración no se vaya a otro punto caliente.</a:t>
            </a:r>
          </a:p>
        </p:txBody>
      </p:sp>
      <p:pic>
        <p:nvPicPr>
          <p:cNvPr id="4" name="Picture 3" descr="model_notch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6267" y="685800"/>
            <a:ext cx="6458105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POLÍTICA DE MALLA</a:t>
            </a:r>
          </a:p>
        </p:txBody>
      </p:sp>
      <p:pic>
        <p:nvPicPr>
          <p:cNvPr id="3" name="Picture 2" descr="dia_mal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618" y="1170432"/>
            <a:ext cx="8912458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TRAZABILIDAD</a:t>
            </a:r>
          </a:p>
        </p:txBody>
      </p:sp>
      <p:pic>
        <p:nvPicPr>
          <p:cNvPr id="3" name="Picture 2" descr="dia_bad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965" y="1170432"/>
            <a:ext cx="9937765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EL DATO NORMATIVO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3268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100" b="1">
                <a:solidFill>
                  <a:srgbClr val="1D1D1F"/>
                </a:solidFill>
                <a:latin typeface="Arial"/>
              </a:rPr>
              <a:t>La tabla no se interpola: o hay fila, o hay error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00784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6E6E73"/>
                </a:solidFill>
                <a:latin typeface="Arial"/>
              </a:rPr>
              <a:t>din6885_row() devuelve la fila exacta con su etiqueta NORMATIVE. Fuera del rango de la norma lanza una excepción, para que nadie pueda declarar conformidad DIN con la fila más parecida.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88920"/>
            <a:ext cx="2542032" cy="1627632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" y="2990088"/>
            <a:ext cx="208483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1D1D1F"/>
                </a:solidFill>
                <a:latin typeface="Arial"/>
              </a:rPr>
              <a:t>26   filas de sección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b × h, t1, t2, tolerancia de t1 y el incremento d2 para cada banda de diámetro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788920"/>
            <a:ext cx="2542032" cy="1627632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12464" y="2990088"/>
            <a:ext cx="208483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1D1D1F"/>
                </a:solidFill>
                <a:latin typeface="Arial"/>
              </a:rPr>
              <a:t>34   longitudes normalizadas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de 6 a 400 mm; la chaveta se ajusta hacia abajo, nunca hacia arriba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788920"/>
            <a:ext cx="2542032" cy="1627632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9944" y="2990088"/>
            <a:ext cx="208483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1D1D1F"/>
                </a:solidFill>
                <a:latin typeface="Arial"/>
              </a:rPr>
              <a:t>7   bandas de radios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r1 de boca y r2 de fondo por separado: no son el mismo radio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69680" y="2788920"/>
            <a:ext cx="2542032" cy="1627632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07424" y="2990088"/>
            <a:ext cx="208483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1D1D1F"/>
                </a:solidFill>
                <a:latin typeface="Arial"/>
              </a:rPr>
              <a:t>3   formas implementadas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A, B y AB. De C a J se rechazan con un mensaje propio, no en silencio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736592"/>
            <a:ext cx="106372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D40, la fila de referencia del proyecto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300" b="0">
                <a:solidFill>
                  <a:srgbClr val="6E6E73"/>
                </a:solidFill>
                <a:latin typeface="Consolas"/>
              </a:rPr>
              <a:t>38 &lt; d1 ≤ 44 mm     b × h = 12 × 8 mm     t1 = 5,00 +0,20 mm     t2 = 3,30 mm     d2(ref) = 48,00 mm     r1 = 0,25…0,40 mm     r2 = 0,16…0,25 mm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94360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6868B"/>
                </a:solidFill>
                <a:latin typeface="Arial"/>
              </a:rPr>
              <a:t>El chaflán de la chaveta no está en la tabla: es un parámetro del usuario (c = 0,8 mm por defecto) y así se declara en el informe.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CAPACIDAD RESISTENTE</a:t>
            </a:r>
          </a:p>
        </p:txBody>
      </p:sp>
      <p:pic>
        <p:nvPicPr>
          <p:cNvPr id="3" name="Picture 2" descr="dia_met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788" y="1170432"/>
            <a:ext cx="10244119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RESULTADOS</a:t>
            </a:r>
          </a:p>
        </p:txBody>
      </p:sp>
      <p:pic>
        <p:nvPicPr>
          <p:cNvPr id="3" name="Picture 2" descr="chart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192479"/>
            <a:ext cx="10637215" cy="468335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CORRECCIÓN 1 DE 2</a:t>
            </a:r>
          </a:p>
        </p:txBody>
      </p:sp>
      <p:pic>
        <p:nvPicPr>
          <p:cNvPr id="3" name="Picture 2" descr="dia_t2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423" y="1170432"/>
            <a:ext cx="9086848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CORRECCIÓN 2 DE 2</a:t>
            </a:r>
          </a:p>
        </p:txBody>
      </p:sp>
      <p:pic>
        <p:nvPicPr>
          <p:cNvPr id="3" name="Picture 2" descr="chart_f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838" y="1170432"/>
            <a:ext cx="10568019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HALLAZGO ABIERTO</a:t>
            </a:r>
          </a:p>
        </p:txBody>
      </p:sp>
      <p:pic>
        <p:nvPicPr>
          <p:cNvPr id="3" name="Picture 2" descr="dia_eq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5805" y="1170432"/>
            <a:ext cx="8840084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VERIFICACIÓN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3268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300" b="1">
                <a:solidFill>
                  <a:srgbClr val="1D1D1F"/>
                </a:solidFill>
                <a:latin typeface="Arial"/>
              </a:rPr>
              <a:t>Lo que se ha comprobado, y cómo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148840"/>
            <a:ext cx="685800" cy="2794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Autotest empaquetado</a:t>
            </a:r>
          </a:p>
          <a:p>
            <a:pPr algn="l">
              <a:lnSpc>
                <a:spcPct val="132000"/>
              </a:lnSpc>
              <a:spcBef>
                <a:spcPts val="600"/>
              </a:spcBef>
            </a:pPr>
            <a:r>
              <a:rPr sz="1150" b="0">
                <a:solidFill>
                  <a:srgbClr val="6E6E73"/>
                </a:solidFill>
                <a:latin typeface="Arial"/>
              </a:rPr>
              <a:t>identidad 4.2 y esquema 6, migración 5→6, catálogos DIN y FVA, cálculos de referencia, seis plantillas de malla, informes en los tres idiomas. Termina con código 0.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447288"/>
            <a:ext cx="685800" cy="2794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630168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Paridad de los tres catálogos</a:t>
            </a:r>
          </a:p>
          <a:p>
            <a:pPr algn="l">
              <a:lnSpc>
                <a:spcPct val="132000"/>
              </a:lnSpc>
              <a:spcBef>
                <a:spcPts val="600"/>
              </a:spcBef>
            </a:pPr>
            <a:r>
              <a:rPr sz="1150" b="0">
                <a:solidFill>
                  <a:srgbClr val="6E6E73"/>
                </a:solidFill>
                <a:latin typeface="Arial"/>
              </a:rPr>
              <a:t>650 claves por idioma, sin huecos; cada código de validación tiene su presentación traducida.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45736"/>
            <a:ext cx="685800" cy="2794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928616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Los cuatro presets</a:t>
            </a:r>
          </a:p>
          <a:p>
            <a:pPr algn="l">
              <a:lnSpc>
                <a:spcPct val="132000"/>
              </a:lnSpc>
              <a:spcBef>
                <a:spcPts val="600"/>
              </a:spcBef>
            </a:pPr>
            <a:r>
              <a:rPr sz="1150" b="0">
                <a:solidFill>
                  <a:srgbClr val="6E6E73"/>
                </a:solidFill>
                <a:latin typeface="Arial"/>
              </a:rPr>
              <a:t>normalizan y validan con esquema 6 y cero errores, incluido el de resolución de 10 ciclos.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148840"/>
            <a:ext cx="685800" cy="2794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233172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Compatibilidad con el kernel</a:t>
            </a:r>
          </a:p>
          <a:p>
            <a:pPr algn="l">
              <a:lnSpc>
                <a:spcPct val="132000"/>
              </a:lnSpc>
              <a:spcBef>
                <a:spcPts val="600"/>
              </a:spcBef>
            </a:pPr>
            <a:r>
              <a:rPr sz="1150" b="0">
                <a:solidFill>
                  <a:srgbClr val="6E6E73"/>
                </a:solidFill>
                <a:latin typeface="Arial"/>
              </a:rPr>
              <a:t>los seis módulos que corren dentro de Abaqus se auditaron con AST: sin f-strings, sin anotaciones, sólo os, sys, json, math, time y hashlib. División importada del futuro.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3447288"/>
            <a:ext cx="685800" cy="2794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3630168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Contrato de artefactos</a:t>
            </a:r>
          </a:p>
          <a:p>
            <a:pPr algn="l">
              <a:lnSpc>
                <a:spcPct val="132000"/>
              </a:lnSpc>
              <a:spcBef>
                <a:spcPts val="600"/>
              </a:spcBef>
            </a:pPr>
            <a:r>
              <a:rPr sz="1150" b="0">
                <a:solidFill>
                  <a:srgbClr val="6E6E73"/>
                </a:solidFill>
                <a:latin typeface="Arial"/>
              </a:rPr>
              <a:t>el proyecto se declara correcto sólo si existen auditoría, BUILD_RESULT, CAE, capturas e informe, y si la malla realizada coincide con la planificada.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4745736"/>
            <a:ext cx="685800" cy="2794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4928616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Cifras fijadas en el test</a:t>
            </a:r>
          </a:p>
          <a:p>
            <a:pPr algn="l">
              <a:lnSpc>
                <a:spcPct val="132000"/>
              </a:lnSpc>
              <a:spcBef>
                <a:spcPts val="600"/>
              </a:spcBef>
            </a:pPr>
            <a:r>
              <a:rPr sz="1150" b="0">
                <a:solidFill>
                  <a:srgbClr val="6E6E73"/>
                </a:solidFill>
                <a:latin typeface="Arial"/>
              </a:rPr>
              <a:t>999,18 N·m gobernado por el cubo, t2tr = 3,141 mm, f_W de la ecuación 3 y el dominio de K_λ.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144768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6868B"/>
                </a:solidFill>
                <a:latin typeface="Arial"/>
              </a:rPr>
              <a:t>Lo que el autotest no hace, y así lo declara: no arranca Abaqus, no resuelve, no compila LaTeX y no valida un especimen FVA.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DISTRIBUCIÓN</a:t>
            </a:r>
          </a:p>
        </p:txBody>
      </p:sp>
      <p:pic>
        <p:nvPicPr>
          <p:cNvPr id="3" name="Picture 2" descr="dia_rele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56351"/>
            <a:ext cx="10637215" cy="39556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ESTADO</a:t>
            </a:r>
          </a:p>
        </p:txBody>
      </p:sp>
      <p:pic>
        <p:nvPicPr>
          <p:cNvPr id="3" name="Picture 2" descr="dia_es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101" y="1170432"/>
            <a:ext cx="9447492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997FF"/>
                </a:solidFill>
                <a:latin typeface="Arial"/>
              </a:rPr>
              <a:t>PRÓXIMOS PASOS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3268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>
                <a:solidFill>
                  <a:srgbClr val="FFFFFF"/>
                </a:solidFill>
                <a:latin typeface="Arial"/>
              </a:rPr>
              <a:t>Tres decisiones y una compilación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6888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997FF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24688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Reconstruir el ejecutable</a:t>
            </a:r>
          </a:p>
          <a:p>
            <a:pPr algn="l">
              <a:lnSpc>
                <a:spcPct val="135000"/>
              </a:lnSpc>
              <a:spcBef>
                <a:spcPts val="700"/>
              </a:spcBef>
            </a:pPr>
            <a:r>
              <a:rPr sz="1250" b="0">
                <a:solidFill>
                  <a:srgbClr val="9E9EA7"/>
                </a:solidFill>
                <a:latin typeface="Arial"/>
              </a:rPr>
              <a:t>make_exe.bat, sin cambios, desde el árbol completo del proyecto. El .exe publicado es anterior a las dos correcciones: 17 de 31 entradas del manifiesto han cambiado.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49424"/>
            <a:ext cx="10637215" cy="12700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76732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997FF"/>
                </a:solidFill>
                <a:latin typeface="Arial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3767328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Fijar el signo de la ecuación 9</a:t>
            </a:r>
          </a:p>
          <a:p>
            <a:pPr algn="l">
              <a:lnSpc>
                <a:spcPct val="135000"/>
              </a:lnSpc>
              <a:spcBef>
                <a:spcPts val="700"/>
              </a:spcBef>
            </a:pPr>
            <a:r>
              <a:rPr sz="1250" b="0">
                <a:solidFill>
                  <a:srgbClr val="9E9EA7"/>
                </a:solidFill>
                <a:latin typeface="Arial"/>
              </a:rPr>
              <a:t>contra el texto DIN 6892 con licencia. Si el signo negativo es el correcto, el par admisible real baja otro 46 %.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547872"/>
            <a:ext cx="10637215" cy="12700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065776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997FF"/>
                </a:solidFill>
                <a:latin typeface="Arial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5065776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Numerar la versión</a:t>
            </a:r>
          </a:p>
          <a:p>
            <a:pPr algn="l">
              <a:lnSpc>
                <a:spcPct val="135000"/>
              </a:lnSpc>
              <a:spcBef>
                <a:spcPts val="700"/>
              </a:spcBef>
            </a:pPr>
            <a:r>
              <a:rPr sz="1250" b="0">
                <a:solidFill>
                  <a:srgbClr val="9E9EA7"/>
                </a:solidFill>
                <a:latin typeface="Arial"/>
              </a:rPr>
              <a:t>dos ejecutables que se identifican como 4.2 y devuelven pares distintos son una colisión de identidad. Mi recomendación es 4.3.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846320"/>
            <a:ext cx="10637215" cy="12700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E9EA7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100584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FFFFFF"/>
                </a:solidFill>
                <a:latin typeface="Arial"/>
              </a:rPr>
              <a:t>El valor no está en el modelo.
Está en poder demostrar cómo se hizo.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12064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E9EA7"/>
                </a:solidFill>
                <a:latin typeface="Arial"/>
              </a:rPr>
              <a:t>Model Builder 4.2  ·  esquema de parámetros 6  ·  din6892-methods-1.0  ·  auto-mesh-2.0</a:t>
            </a:r>
          </a:p>
          <a:p>
            <a:pPr algn="l">
              <a:lnSpc>
                <a:spcPct val="100000"/>
              </a:lnSpc>
              <a:spcBef>
                <a:spcPts val="800"/>
              </a:spcBef>
            </a:pPr>
            <a:r>
              <a:rPr sz="1250" b="0">
                <a:solidFill>
                  <a:srgbClr val="7C7C86"/>
                </a:solidFill>
                <a:latin typeface="Arial"/>
              </a:rPr>
              <a:t>Cada número de esta presentación es reproducible ejecutando el código del repositorio.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E9EA7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