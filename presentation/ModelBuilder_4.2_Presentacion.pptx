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93392"/>
            <a:ext cx="10058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Model Builder 4.2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2100" b="0">
                <a:solidFill>
                  <a:srgbClr val="9E9EA7"/>
                </a:solidFill>
                <a:latin typeface="Arial"/>
              </a:rPr>
              <a:t>Automatización trazable de uniones eje–cubo con chaveta
para Abaqus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74243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C7C86"/>
                </a:solidFill>
                <a:latin typeface="Arial"/>
              </a:rPr>
              <a:t>DIN 6885-1  ·  DIN 6892 Métodos A / B / C  ·  FVA 600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997FF"/>
                </a:solidFill>
                <a:latin typeface="Arial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424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Un modelo de chavetero bien hecho
no es difícil: es difícil de repetir.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Cada modelo se rehacía a mano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9E9EA7"/>
                </a:solidFill>
                <a:latin typeface="Arial"/>
              </a:rPr>
              <a:t>la tabla DIN se consultaba en papel y se teclaba caso por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443984"/>
            <a:ext cx="822960" cy="254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79392" y="47091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La malla dependía del autor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9E9EA7"/>
                </a:solidFill>
                <a:latin typeface="Arial"/>
              </a:rPr>
              <a:t>sin criterio de aceptación explícito ni registro de intentos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4443984"/>
            <a:ext cx="822960" cy="254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81544" y="47091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El resultado no se podía auditar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9E9EA7"/>
                </a:solidFill>
                <a:latin typeface="Arial"/>
              </a:rPr>
              <a:t>sin saber qué versión, qué norma y qué hipótesis lo produjeron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81544" y="4443984"/>
            <a:ext cx="822960" cy="254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QUÉ 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1D1D1F"/>
                </a:solidFill>
                <a:latin typeface="Arial"/>
              </a:rPr>
              <a:t>Una sola herramienta desde la tabla de la norma
hasta el informe firmado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14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módulos de Python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escritorio, kernel de Abaqus
y núcleo compartido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26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filas DIN 6885-1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transcritas sin extrapolar,
6 &lt; d1 ≤ 500 mm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8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plantillas de malla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con puertas de calidad duras
y presupuesto de elementos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métodos DIN 6892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A, B, B-FVA y C, calculados
en paralelo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idiomas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español, inglés y alemán
650 claves con paridad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Todo lo que se ve en estas diapositivas sale de ejecutar el código: las capturas son de la aplicación real y las cifras las calcula el motor empaquetado.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ARQUITECTURA</a:t>
            </a:r>
          </a:p>
        </p:txBody>
      </p:sp>
      <p:pic>
        <p:nvPicPr>
          <p:cNvPr id="3" name="Picture 2" descr="dia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26" y="1170432"/>
            <a:ext cx="9105243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01675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Un cambio en la tabla DIN o en un factor de DIN 6892 se escribe una sola vez y llega a los dos intérpretes.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CÓMO SE USA</a:t>
            </a:r>
          </a:p>
        </p:txBody>
      </p:sp>
      <p:pic>
        <p:nvPicPr>
          <p:cNvPr id="3" name="Picture 2" descr="dia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65816"/>
            <a:ext cx="10637215" cy="2509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01675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Seis pestañas en el orden en que se toman las decisiones: primero el proyecto, después la geometría normativa, y sólo al final la ejecución.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PESTAÑA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Proyecto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Nombre, autor e idioma quedan grabados en project.json: el informe se emite en el idioma del proyecto, no en el de quien lo abre.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La ruta de Abaqus se detecta buscando los lanzadores instalados, sin ejecutar ninguno.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La carpeta raíz por defecto es Documentos/ModelBuilder Projects.</a:t>
            </a:r>
          </a:p>
        </p:txBody>
      </p:sp>
      <p:pic>
        <p:nvPicPr>
          <p:cNvPr id="4" name="Picture 3" descr="gui_01_proye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990036"/>
            <a:ext cx="6812280" cy="4877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Captura real de la aplicación, idioma por defecto español.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PESTAÑA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Geometría DIN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A la izquierda, los pocos parámetros independientes que el usuario decide. A la derecha, todo lo que la norma deriva de ellos.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panel derecho se recalcula al teclear: fila DIN, longitudes, cubo, plan de malla y la lista de validación completa.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La etiqueta NORMATIVE en verde indica que la geometría está dentro del sobre de la norma.</a:t>
            </a:r>
          </a:p>
        </p:txBody>
      </p:sp>
      <p:pic>
        <p:nvPicPr>
          <p:cNvPr id="4" name="Picture 3" descr="gui_02_geometria_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4652"/>
            <a:ext cx="6812280" cy="550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d1 = 40 mm  ·  banda 38 &lt; d1 ≤ 44  ·  b × h = 12 × 8  ·  DIN 6885-1 Form A 12 × 8 × 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PESTAÑA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Malla y materiales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La plantilla se elige por nombre; el modo AUTO compara candidatos completos por pieza y conserva el ganador.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Una semilla en 0 significa automático, y la regla sigue al refinamiento: con la banda de entalla activa son D/16 en el eje y d_a/40 en el cubo. La chaveta siempre b/20.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criterio rápido de presión está marcado CORE-SCREENING: es plausibilidad, no DIN 6892 Método B.</a:t>
            </a:r>
          </a:p>
        </p:txBody>
      </p:sp>
      <p:pic>
        <p:nvPicPr>
          <p:cNvPr id="4" name="Picture 3" descr="gui_03_malla_materi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990036"/>
            <a:ext cx="6812280" cy="4877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Aquí la plantilla es HEX_CERTIFIED, en modo auto y con 3 intentos.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PESTAÑA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Análisis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análisis es opcional y está desactivado por defecto: construir y auditar no requiere resolver.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Si se activa, se crea contacto general, un step estático TORSION y un momento sobre el punto de referencia del extremo motriz.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estudio de convergencia de malla se lanza aparte y escribe su propio CSV.</a:t>
            </a:r>
          </a:p>
        </p:txBody>
      </p:sp>
      <p:pic>
        <p:nvPicPr>
          <p:cNvPr id="4" name="Picture 3" descr="gui_04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990036"/>
            <a:ext cx="6812280" cy="4877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Crear el job y enviarlo al solver son dos casillas distintas.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PESTAÑA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DIN 6892 / FVA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método se elige explícitamente. Los factores licenciados que no se pueden transcribir se quedan en 1,0 y el resultado se marca PROVISIONAL_FACTORS.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N_W en blanco significa deducir de la razón de carga R; con un par pulsante da cero inversiones y f_W = 1.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Método A no se calcula aquí: se importa un CSV de un ODB ya resuelto, con SHA-256 y cobertura verificadas.</a:t>
            </a:r>
          </a:p>
        </p:txBody>
      </p:sp>
      <p:pic>
        <p:nvPicPr>
          <p:cNvPr id="4" name="Picture 3" descr="gui_05_din6892_f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4652"/>
            <a:ext cx="6812280" cy="550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Las normas seleccionadas se declaran una por una, incluidas las que no están implementadas.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PESTAÑA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Ejecutar y evidencias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log de Abaqus se transmite en vivo a la ventana y al archivo logs/abaqus.log, con el comando y el directorio de trabajo en la cabecera.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Al terminar, la lista de artefactos se rellena con tamaño y etiqueta de evidencia; los botones abren el proyecto, el informe y el modelo.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Detener mata el árbol de procesos del solver y marca el proyecto como CANCELLED.</a:t>
            </a:r>
          </a:p>
        </p:txBody>
      </p:sp>
      <p:pic>
        <p:nvPicPr>
          <p:cNvPr id="4" name="Picture 3" descr="gui_06_ejecutar_evid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4652"/>
            <a:ext cx="6812280" cy="550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Ningún archivo de solver cae junto al ejecutable: el subproceso corre con cwd = jobs/.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CONTROL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La validación habla en códigos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Cada aviso tiene un código estable, un mensaje canónico en inglés y una presentación traducida. El código es el que se cita en el informe y en una revisión.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diálogo informa el resultado, no lo adorna: sin errores, el recuento de advertencias y el recordatorio de que el cálculo resistente sigue etiquetado CORE-SCREENING.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Un error bloquea la construcción antes de tocar Abaqus; una advertencia informa y queda registrada en la auditoría.</a:t>
            </a:r>
          </a:p>
        </p:txBody>
      </p:sp>
      <p:pic>
        <p:nvPicPr>
          <p:cNvPr id="4" name="Picture 3" descr="gui_07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758754"/>
            <a:ext cx="6812280" cy="53404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Por defecto: 0 errores y 3 advertencias — un factor licenciado todavía neutro, la ecuación 9 optimista y una relación de aspecto axial alta esperada en la entalla.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FLUJO DE EJECUCIÓN</a:t>
            </a:r>
          </a:p>
        </p:txBody>
      </p:sp>
      <p:pic>
        <p:nvPicPr>
          <p:cNvPr id="3" name="Picture 2" descr="di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484"/>
            <a:ext cx="10637215" cy="4051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LO QUE QUEDA EN DISCO</a:t>
            </a:r>
          </a:p>
        </p:txBody>
      </p:sp>
      <p:pic>
        <p:nvPicPr>
          <p:cNvPr id="3" name="Picture 2" descr="dia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4" y="1170432"/>
            <a:ext cx="8207107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PUNTOS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Quince presets, ninguno que salte la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6E6E73"/>
                </a:solidFill>
                <a:latin typeface="Arial"/>
              </a:rPr>
              <a:t>Un preset sólo fija parámetros. Después se fusiona sobre los valores por defecto y se vuelve a derivar y validar como si se hubiera teclado a mano.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6700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5 de geometría y análisis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D25 pequeña, D40 validada por defecto, D50 siguiente banda DIN, D40 cuadrática C3D20 y D40 con análisis de torsión.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0034" y="24871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9490" y="26700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8 de malla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Una por plantilla: hex certificada, híbrida FVA Método A, equilibrada, calidad crítica, vista rápida, hex dominante, precisión cuadrática y respaldo robusto.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2828" y="24871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2284" y="26700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2 de investigación FVA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D40 pre-solve de 1 ciclo y configuración de Método A D40 de 20 ciclos con coincidencia a verificar durante el build. Las dos con el solver deliberadamente apagado.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34256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517136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Un preset no es un atajo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Pasa por las mismas puertas: si el resultado sale del sobre normativo, el error bloquea igual.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0034" y="4334256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9490" y="4517136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Se guarda y se recupera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La configuración va y vuelve a JSON, así que un caso se entrega como archivo y se reproduce tal cual.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2828" y="4334256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2284" y="4517136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Los presets del paquete están vigilados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 publicador comprueba campo por campo los dos compañeros FVA: no pueden cambiar en silencio entre versiones.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Los presets de malla existen para hacer explícita la política, no para esconderla.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ESPACIO DE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Qué se puede construir, y qué se rechaza a propósito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Formas de chaveta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A, B y AB implementadas. De C a J se rechazan con un mensaje propio: necesitan cotas de taladro y chaflán que no están implementadas.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Cubo cilíndrico o cónico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 cónico añade un cuarto sólido, el casquillo, y desactiva el refinamiento de banda de la entalla; el modelo lo declara.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Diámetro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Continuo en 6 &lt; d1 &lt;= 500 mm, resuelto a una de las 26 filas. Fuera de ahí lanza excepción en lugar de aproximar.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Orden y tipo de elemento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Lineal o cuadrático (por defecto), C3D8/C3D8I o C3D20/C3D20R. C3D8R sólo se acepta como elección explícita heredada, y levanta advertencia.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Semillas automáticas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Con refinamiento de entalla, que es el defecto: D/16 en el eje y d_a/40 en el cubo. Sin él, D/32 y d_a/80. La regla aplicada se escribe en la auditoría.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Modo de cumplimiento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Normativo o anulación del usuario. Salirse del sobre está permitido; lo que no está permitido es que no se note.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997FF"/>
                </a:solidFill>
                <a:latin typeface="Arial"/>
              </a:rPr>
              <a:t>EL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Sólidos, no cascarones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Eje, chaveta y cubo se construyen como volúmenes independientes y se ensamblan con las tolerancias de la norma.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Esta evidencia muestra una malla hexaédrica. La coincidencia exacta de interfaces no se deduce de la imagen: el backend especializado de Método A la comprueba comparando coordenadas de nodos después de mallar.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La captura es la imagen que el propio motor guarda en screenshots/ al terminar.</a:t>
            </a:r>
          </a:p>
        </p:txBody>
      </p:sp>
      <p:pic>
        <p:nvPicPr>
          <p:cNvPr id="4" name="Picture 3" descr="model_assembly_h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897" y="685800"/>
            <a:ext cx="6406845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EL DETALLE QUE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D1F"/>
                </a:solidFill>
                <a:latin typeface="Arial"/>
              </a:rPr>
              <a:t>La banda del chavetero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En la sección se ve la banda de elementos más finos que rodea la ranura: no es una malla uniforme más densa, es refinamiento donde está el gradiente.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ancho de la banda y el número de elementos sobre el arco del radio r2 son parámetros, y la auditoría comprueba que se hayan cumplido.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El conjunto de elementos NOTCH_SHAFT se construye alrededor de las dos esquinas del chavetero para que la consulta de concentración no se vaya a otro punto caliente.</a:t>
            </a:r>
          </a:p>
        </p:txBody>
      </p:sp>
      <p:pic>
        <p:nvPicPr>
          <p:cNvPr id="4" name="Picture 3" descr="model_notch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267" y="685800"/>
            <a:ext cx="6458105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POLÍTICA DE MALLA</a:t>
            </a:r>
          </a:p>
        </p:txBody>
      </p:sp>
      <p:pic>
        <p:nvPicPr>
          <p:cNvPr id="3" name="Picture 2" descr="dia_m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18" y="1170432"/>
            <a:ext cx="8912458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SELECCIÓN DE MALLA</a:t>
            </a:r>
          </a:p>
        </p:txBody>
      </p:sp>
      <p:pic>
        <p:nvPicPr>
          <p:cNvPr id="3" name="Picture 2" descr="dia_mesh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6557"/>
            <a:ext cx="10637215" cy="43351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MONTAJE DEL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Si se pide análisis, esto es lo que se monta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Contacto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Contacto general con rozamiento por penalización isótropo y comportamiento normal duro con separación permitida.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Extremo motriz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Superficie en el extremo del eje, punto de referencia y acoplamiento cinemático sobre toda la superficie.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Región sujeta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 diámetro exterior del cubo o sus dos caras, empotrado. Es una elección del usuario, no un supuesto oculto.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Paso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Paso estático TORSION, con no linealidad geométrica y estabilización opcionales y control de incremento del formulario.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Carga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Momento sobre el eje aplicado en el punto de referencia; el punto guía bloquea todos los grados de libertad menos el giro.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Salidas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Campo S, U, E, RF, CSTRESS y CDISP en cuatro intervalos; historia UR3 y RM3 en el punto de referencia.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Crear el trabajo y enviarlo al solver siguen siendo dos decisiones separadas, y ninguna es el valor por defecto.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TRAZABILIDAD</a:t>
            </a:r>
          </a:p>
        </p:txBody>
      </p:sp>
      <p:pic>
        <p:nvPicPr>
          <p:cNvPr id="3" name="Picture 2" descr="dia_ba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65" y="1170432"/>
            <a:ext cx="9937765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EL DATO NORMATIVO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1D1D1F"/>
                </a:solidFill>
                <a:latin typeface="Arial"/>
              </a:rPr>
              <a:t>La tabla no se interpola: o hay fila, o hay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6E6E73"/>
                </a:solidFill>
                <a:latin typeface="Arial"/>
              </a:rPr>
              <a:t>din6885_row() devuelve la fila exacta con su etiqueta NORMATIVE. Fuera del rango de la norma lanza una excepción, para que nadie pueda declarar conformidad DIN con la fila más parecida.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26   filas de sección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b × h, t1, t2, tolerancia de t1 y el incremento d2 para cada banda de diámetro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34   longitudes normalizadas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de 6 a 400 mm; la chaveta se ajusta hacia abajo, nunca hacia arriba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7   bandas de radios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r1 de boca y r2 de fondo por separado: no son el mismo radio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3   formas implementadas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A, B y AB. De C a J se rechazan con un mensaje propio, no en silencio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36592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D40, la fila de referencia del proyecto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300" b="0">
                <a:solidFill>
                  <a:srgbClr val="6E6E73"/>
                </a:solidFill>
                <a:latin typeface="Consolas"/>
              </a:rPr>
              <a:t>38 &lt; d1 ≤ 44 mm     b × h = 12 × 8 mm     t1 = 5,00 +0,20 mm     t2 = 3,30 mm     d2(ref) = 48,00 mm     r1 = 0,25…0,40 mm     r2 = 0,16…0,25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El chaflán de la chaveta no está en la tabla: es un parámetro del usuario (c = 0,8 mm por defecto) y así se declara en el informe.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LA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El archivo que dice qué se construyó de verdad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Dos formatos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PARAM_BUILD_AUDIT.txt para leerlo con los ojos y .json para procesarlo con una herramienta.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Un veredicto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OK o CHECK, y el mismo veredicto se refleja en el resultado del build: no hay dos versiones de la verdad.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Procedencia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SHA-256 de los archivos del motor y del núcleo que produjeron ese modelo, no de los que estén hoy en disco.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Plan frente a realidad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La malla planificada y la realizada, pieza por pieza. Si no coinciden, el proyecto no se declara correcto.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Por pieza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Elementos, score de calidad, proporción de hexaedros, relación de aspecto, reparaciones e historial de intentos.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La lista de avisos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Cada advertencia con su código estable, más las etiquetas de evidencia y los conjuntos y superficies creados.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EL ENTREGABLE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El informe es el producto, no un extra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Diez secciones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Proyecto y procedencia, alcance, geometría, DIN 6892 y normas, validación, malla y política, comprobaciones, evidencia, entregables y limitaciones.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Tres archivos y un log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report.tex para revisar, report.pdf para firmar, report_data.json para procesar y latex_build.log para depurar.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Trilingüe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Se emite en el idioma del proyecto, desde los mismos catálogos de 650 claves que usa la interfaz.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Las etiquetas sobreviven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Cada valor llega al PDF con su etiqueta de procedencia como distintivo de color, no como nota al pie.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Compilación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latexmk si está, dos pasadas de pdflatex si no, sin shell y con tiempo límite finito.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Sin LaTeX instalado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Escribe el .tex, lo dice con un mensaje traducido y no tumba el build por algo que no es del modelo.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CAPACIDAD RESISTENTE</a:t>
            </a:r>
          </a:p>
        </p:txBody>
      </p:sp>
      <p:pic>
        <p:nvPicPr>
          <p:cNvPr id="3" name="Picture 2" descr="dia_met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8" y="1170432"/>
            <a:ext cx="10244119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RESULTADOS</a:t>
            </a:r>
          </a:p>
        </p:txBody>
      </p:sp>
      <p:pic>
        <p:nvPicPr>
          <p:cNvPr id="3" name="Picture 2" descr="chart_p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92479"/>
            <a:ext cx="10637215" cy="4683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CORRECCIÓN 1 DE 2</a:t>
            </a:r>
          </a:p>
        </p:txBody>
      </p:sp>
      <p:pic>
        <p:nvPicPr>
          <p:cNvPr id="3" name="Picture 2" descr="dia_t2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23" y="1170432"/>
            <a:ext cx="9086848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CORRECCIÓN 2 DE 2</a:t>
            </a:r>
          </a:p>
        </p:txBody>
      </p:sp>
      <p:pic>
        <p:nvPicPr>
          <p:cNvPr id="3" name="Picture 2" descr="chart_f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38" y="1170432"/>
            <a:ext cx="10568019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HALLAZGO ABIERTO</a:t>
            </a:r>
          </a:p>
        </p:txBody>
      </p:sp>
      <p:pic>
        <p:nvPicPr>
          <p:cNvPr id="3" name="Picture 2" descr="dia_e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805" y="1170432"/>
            <a:ext cx="8840084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MÉTODO A</a:t>
            </a:r>
          </a:p>
        </p:txBody>
      </p:sp>
      <p:pic>
        <p:nvPicPr>
          <p:cNvPr id="3" name="Picture 2" descr="dia_method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75276"/>
            <a:ext cx="10637215" cy="4117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CONTRASTE NUMÉRICO</a:t>
            </a:r>
          </a:p>
        </p:txBody>
      </p:sp>
      <p:pic>
        <p:nvPicPr>
          <p:cNvPr id="3" name="Picture 2" descr="dia_mat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09581"/>
            <a:ext cx="10637215" cy="42491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CATÁLOGO FVA 600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Ocho configuraciones concretas, no un dominio continuo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VB1 a VB8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Cada variante fija d_w, l_tr/d_w, Q_A, la interferencia, la razón de carga R y la forma de chaveta.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Son puntos, no un rango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 catálogo está documentado como configuraciones discretas de investigación: interpolar entre ellas no está respaldado.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VB1, la referencia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d_w = 40 mm, l_tr/d_w = 0,95, Q_A = 0,5, R = 0 y chaveta forma A. Es la variante de los presets del paquete.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Modelos de material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Chaboche-Lemaitre combinado en el eje, UML Ramberg-Osgood en el cubo y elástico-plástico ideal en la chaveta.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Malla coincidente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Cinco interfaces verificadas después de mallar, con tamaño objetivo 0,8 mm y tolerancia de 1e-6 mm.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COINCIDENTE se gana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Sólo se declara tras comparar coordenadas reales de nodos en cada interfaz que transmite carga. Sembrar igual no es prueba.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VERIFICACIÓN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>
                <a:solidFill>
                  <a:srgbClr val="1D1D1F"/>
                </a:solidFill>
                <a:latin typeface="Arial"/>
              </a:rPr>
              <a:t>Lo que se ha comprobado, y cómo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Autotest empaquetado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identidad 4.2 y esquema 6, migración 5→6, catálogos DIN y FVA, cálculos de referencia, ocho plantillas de malla, informes en los tres idiomas. Termina con código 0.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47288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Paridad de los tres catálogos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650 claves por idioma, sin huecos; cada código de validación tiene su presentación traducida.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745736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28616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Configuraciones vigiladas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los valores por defecto y los dos compañeros FVA empaquetados se validan bajo esquema 6. La configuración de 10 ciclos del repositorio se valida por separado y no se empaqueta.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317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Compatibilidad con el kernel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los seis módulos que corren dentro de Abaqus se auditaron con AST: sin f-strings, sin anotaciones, sólo os, sys, json, math, time y hashlib. División importada del futuro.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47288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63016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Contrato de artefactos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el proyecto se declara correcto sólo si existen la auditoría, BUILD_RESULT y todos los artefactos solicitados o requeridos, y si la malla realizada coincide con la planificada.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745736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928616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Cifras fijadas en el test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999,18 N·m gobernado por el cubo, t2tr = 3,141 mm, f_W de la ecuación 3 y el dominio de K_λ.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Lo que el autotest no hace, y así lo declara: no arranca Abaqus, no resuelve, no compila LaTeX y no valida un especimen FVA.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ROBUSTEZ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Decisiones que evitan clases enteras de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Sin shell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 lanzador se construye como lista de argumentos; shell=True no se usa nunca y los caracteres de control se rechazan.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Contenido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 subproceso corre con cwd = jobs/ y las rutas de artefactos tienen que ser absolutas: no hay respaldo al directorio actual.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Tres candados NOJOB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Ni objetos de trabajo, ni archivos de solver, más una comprobación explícita de configuración.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Detener significa detener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Se mata el árbol completo de procesos del solver y el proyecto queda marcado como CANCELLED, no como terminado.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Escrituras atómicas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Cada JSON se escribe en .tmp y se renombra, así que una caída no puede dejar medio manifiesto.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Nada con licencia se distribuye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Los documentos DIN y FVA se quedan fuera del paquete por lista blanca, no por descuido.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DISTRIBUCIÓN</a:t>
            </a:r>
          </a:p>
        </p:txBody>
      </p:sp>
      <p:pic>
        <p:nvPicPr>
          <p:cNvPr id="3" name="Picture 2" descr="dia_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6351"/>
            <a:ext cx="10637215" cy="3955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ESTADO</a:t>
            </a:r>
          </a:p>
        </p:txBody>
      </p:sp>
      <p:pic>
        <p:nvPicPr>
          <p:cNvPr id="3" name="Picture 2" descr="dia_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01" y="1170432"/>
            <a:ext cx="9447492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997FF"/>
                </a:solidFill>
                <a:latin typeface="Arial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Tres decisiones y una compilación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997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4688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Reconstruir el ejecutable</a:t>
            </a:r>
          </a:p>
          <a:p>
            <a:pPr algn="l">
              <a:lnSpc>
                <a:spcPct val="135000"/>
              </a:lnSpc>
              <a:spcBef>
                <a:spcPts val="7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make_exe.bat, sin cambios, desde el árbol completo del proyecto. El .exe publicado es anterior a las dos correcciones: 17 de 31 entradas del manifiesto han cambiado.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9424"/>
            <a:ext cx="10637215" cy="1270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6732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997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767328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Fijar el signo de la ecuación 9</a:t>
            </a:r>
          </a:p>
          <a:p>
            <a:pPr algn="l">
              <a:lnSpc>
                <a:spcPct val="135000"/>
              </a:lnSpc>
              <a:spcBef>
                <a:spcPts val="7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contra el texto DIN 6892 con licencia. El signo cambia un 46,35 % la profundidad y el componente del eje; en el D40 por defecto el cubo sigue gobernando a 999,18 N·m.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47872"/>
            <a:ext cx="10637215" cy="1270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6577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997FF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5065776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Numerar la versión</a:t>
            </a:r>
          </a:p>
          <a:p>
            <a:pPr algn="l">
              <a:lnSpc>
                <a:spcPct val="135000"/>
              </a:lnSpc>
              <a:spcBef>
                <a:spcPts val="7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dos ejecutables que se identifican como 4.2 y devuelven pares distintos son una colisión de identidad. Mi recomendación es 4.3.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46320"/>
            <a:ext cx="10637215" cy="1270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El valor no está en el modelo.
Está en poder demostrar cómo se hizo.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1206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E9EA7"/>
                </a:solidFill>
                <a:latin typeface="Arial"/>
              </a:rPr>
              <a:t>Model Builder 4.2  ·  esquema de parámetros 6  ·  din6892-methods-1.0  ·  auto-mesh-2.0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250" b="0">
                <a:solidFill>
                  <a:srgbClr val="7C7C86"/>
                </a:solidFill>
                <a:latin typeface="Arial"/>
              </a:rPr>
              <a:t>Cada cálculo se puede rastrear al código; las capturas y renders históricos se identifican como evidencia de origen.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