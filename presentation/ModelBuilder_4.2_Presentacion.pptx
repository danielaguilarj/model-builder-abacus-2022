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93392"/>
            <a:ext cx="10058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Model Builder 4.2</a:t>
            </a:r>
          </a:p>
          <a:p>
            <a:pPr algn="l">
              <a:lnSpc>
                <a:spcPct val="130000"/>
              </a:lnSpc>
              <a:spcBef>
                <a:spcPts val="1600"/>
              </a:spcBef>
            </a:pPr>
            <a:r>
              <a:rPr sz="2100" b="0">
                <a:solidFill>
                  <a:srgbClr val="9E9EA7"/>
                </a:solidFill>
                <a:latin typeface="Arial"/>
              </a:rPr>
              <a:t>Automatización trazable de uniones eje–cubo con chaveta
para Abaqus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7424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7C86"/>
                </a:solidFill>
                <a:latin typeface="Arial"/>
              </a:rPr>
              <a:t>DIN 6885-1  ·  DIN 6892 Métodos A / B / C  ·  FVA 600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Un modelo de chavetero bien hecho
no es difícil: es difícil de repetir.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Cada modelo se rehacía a mano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la tabla DIN se consultaba en papel y se teclaba caso por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9392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La malla dependía del autor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criterio de aceptación explícito ni registro de intentos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81544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El resultado no se podía auditar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saber qué versión, qué norma y qué hipótesis lo produjeron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81544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QUÉ 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Una sola herramienta desde la tabla de la norma
hasta el informe firmado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14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módulos de Python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escritorio, kernel de Abaqus
y núcleo compartido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26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filas DIN 6885-1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transcritas sin extrapolar,
6 &lt; d1 ≤ 500 mm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plantillas de malla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con puertas de calidad duras
y presupuesto de elementos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métodos DIN 6892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A, B, B-FVA y C, calculados
en paralelo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idiomas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español, inglés y alemán
650 claves con paridad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Todo lo que se ve en estas diapositivas sale de ejecutar el código: las capturas son de la aplicación real y las cifras las calcula el motor empaquetado.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ARQUITECTURA</a:t>
            </a:r>
          </a:p>
        </p:txBody>
      </p:sp>
      <p:pic>
        <p:nvPicPr>
          <p:cNvPr id="3" name="Picture 2" descr="di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226" y="1170432"/>
            <a:ext cx="9105243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Un cambio en la tabla DIN o en un factor de DIN 6892 se escribe una sola vez y llega a los dos intérpretes.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CÓMO SE USA</a:t>
            </a:r>
          </a:p>
        </p:txBody>
      </p:sp>
      <p:pic>
        <p:nvPicPr>
          <p:cNvPr id="3" name="Picture 2" descr="dia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5816"/>
            <a:ext cx="10637215" cy="2509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Seis pestañas en el orden en que se toman las decisiones: primero el proyecto, después la geometría normativa, y sólo al final la ejecución.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Proyecto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Nombre, autor e idioma quedan grabados en project.json: el informe se emite en el idioma del proyecto, no en el de quien lo abre.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ruta de Abaqus se detecta buscando los lanzadores instalados, sin ejecutar ninguno.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carpeta raíz por defecto es Documentos/ModelBuilder Projects.</a:t>
            </a:r>
          </a:p>
        </p:txBody>
      </p:sp>
      <p:pic>
        <p:nvPicPr>
          <p:cNvPr id="4" name="Picture 3" descr="gui_01_proye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Captura real de la aplicación, idioma por defecto español.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Geometría DIN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 la izquierda, los pocos parámetros independientes que el usuario decide. A la derecha, todo lo que la norma deriva de ellos.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panel derecho se recalcula al teclear: fila DIN, longitudes, cubo, plan de malla y la lista de validación completa.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etiqueta NORMATIVE en verde indica que la geometría está dentro del sobre de la norma.</a:t>
            </a:r>
          </a:p>
        </p:txBody>
      </p:sp>
      <p:pic>
        <p:nvPicPr>
          <p:cNvPr id="4" name="Picture 3" descr="gui_02_geometria_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d1 = 40 mm  ·  banda 38 &lt; d1 ≤ 44  ·  b × h = 12 × 8  ·  DIN 6885-1 Form A 12 × 8 × 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Malla y materiales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plantilla se elige por nombre; el modo AUTO compara candidatos completos por pieza y conserva el ganador.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Las semillas en 0 significan automático: D/32 en el eje, b/20 en la chaveta, d_a/80 en el cubo.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criterio rápido de presión está marcado CORE-SCREENING: es plausibilidad, no DIN 6892 Método B.</a:t>
            </a:r>
          </a:p>
        </p:txBody>
      </p:sp>
      <p:pic>
        <p:nvPicPr>
          <p:cNvPr id="4" name="Picture 3" descr="gui_03_malla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Aquí la plantilla es HEX_CERTIFIED, en modo auto y con 3 intentos.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Análisis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análisis es opcional y está desactivado por defecto: construir y auditar no requiere resolver.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Si se activa, se crea contacto general, un step estático TORSION y un momento sobre el punto de referencia del extremo motriz.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estudio de convergencia de malla se lanza aparte y escribe su propio CSV.</a:t>
            </a:r>
          </a:p>
        </p:txBody>
      </p:sp>
      <p:pic>
        <p:nvPicPr>
          <p:cNvPr id="4" name="Picture 3" descr="gui_04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Crear el job y enviarlo al solver son dos casillas distintas.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6892 / FVA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se elige explícitamente. Los factores licenciados que no se pueden transcribir se quedan en 1,0 y el resultado se marca PROVISIONAL_FACTORS.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N_W en blanco significa deducir de la razón de carga R; con un par pulsante da cero inversiones y f_W = 1.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A no se calcula aquí: se importa un CSV de un ODB ya resuelto, con SHA-256 y cobertura verificadas.</a:t>
            </a:r>
          </a:p>
        </p:txBody>
      </p:sp>
      <p:pic>
        <p:nvPicPr>
          <p:cNvPr id="4" name="Picture 3" descr="gui_05_din6892_f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Las normas seleccionadas se declaran una por una, incluidas las que no están implementadas.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Ejecutar y evidencias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log de Abaqus se transmite en vivo a la ventana y al archivo logs/abaqus.log, con el comando y el directorio de trabajo en la cabecera.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Al terminar, la lista de artefactos se rellena con tamaño y etiqueta de evidencia; los botones abren el proyecto, el informe y el modelo.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Detener mata el árbol de procesos del solver y marca el proyecto como CANCELLED.</a:t>
            </a:r>
          </a:p>
        </p:txBody>
      </p:sp>
      <p:pic>
        <p:nvPicPr>
          <p:cNvPr id="4" name="Picture 3" descr="gui_06_ejecutar_evi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Ningún archivo de solver cae junto al ejecutable: el subproceso corre con cwd = jobs/.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CONTROL DE 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La validación habla en códigos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Cada aviso tiene un código estable, un mensaje canónico en inglés y una presentación traducida. El código es el que se cita en el informe y en una revisión.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diálogo informa el resultado, no lo adorna: sin errores, el recuento de advertencias y el recordatorio de que el cálculo resistente sigue etiquetado CORE-SCREENING.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Un error bloquea la construcción antes de tocar Abaqus; una advertencia informa y queda registrada en la auditoría.</a:t>
            </a:r>
          </a:p>
        </p:txBody>
      </p:sp>
      <p:pic>
        <p:nvPicPr>
          <p:cNvPr id="4" name="Picture 3" descr="gui_07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758754"/>
            <a:ext cx="6812280" cy="5340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Por defecto: 0 errores y 3 advertencias — un factor licenciado todavía neutro, la ecuación 9 optimista y una relación de aspecto axial alta esperada en la entalla.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FLUJO DE EJECUCIÓN</a:t>
            </a:r>
          </a:p>
        </p:txBody>
      </p:sp>
      <p:pic>
        <p:nvPicPr>
          <p:cNvPr id="3" name="Picture 2" descr="di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484"/>
            <a:ext cx="10637215" cy="4051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LO QUE QUEDA EN DISCO</a:t>
            </a:r>
          </a:p>
        </p:txBody>
      </p:sp>
      <p:pic>
        <p:nvPicPr>
          <p:cNvPr id="3" name="Picture 2" descr="dia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294" y="1170432"/>
            <a:ext cx="8207107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Sólidos, no cascarones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Eje, chaveta y cubo se construyen como volúmenes independientes y se ensamblan con las tolerancias de la norma.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malla es hexaédrica y coincidente en las interfaces que transmiten carga.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captura es la imagen que el propio motor guarda en screenshots/ al terminar.</a:t>
            </a:r>
          </a:p>
        </p:txBody>
      </p:sp>
      <p:pic>
        <p:nvPicPr>
          <p:cNvPr id="4" name="Picture 3" descr="model_assembly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897" y="685800"/>
            <a:ext cx="640684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DETALLE QUE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D1D1F"/>
                </a:solidFill>
                <a:latin typeface="Arial"/>
              </a:rPr>
              <a:t>La banda del chavetero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En la sección se ve la banda de elementos más finos que rodea la ranura: no es una malla uniforme más densa, es refinamiento donde está el gradiente.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ancho de la banda y el número de elementos sobre el arco del radio r2 son parámetros, y la auditoría comprueba que se hayan cumplido.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conjunto de elementos NOTCH_SHAFT se construye alrededor de las dos esquinas del chavetero para que la consulta de concentración no se vaya a otro punto caliente.</a:t>
            </a:r>
          </a:p>
        </p:txBody>
      </p:sp>
      <p:pic>
        <p:nvPicPr>
          <p:cNvPr id="4" name="Picture 3" descr="model_notch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267" y="685800"/>
            <a:ext cx="645810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POLÍTICA DE MALLA</a:t>
            </a:r>
          </a:p>
        </p:txBody>
      </p:sp>
      <p:pic>
        <p:nvPicPr>
          <p:cNvPr id="3" name="Picture 2" descr="dia_m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618" y="1170432"/>
            <a:ext cx="891245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TRAZABILIDAD</a:t>
            </a:r>
          </a:p>
        </p:txBody>
      </p:sp>
      <p:pic>
        <p:nvPicPr>
          <p:cNvPr id="3" name="Picture 2" descr="dia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65" y="1170432"/>
            <a:ext cx="9937765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DATO NORMATIVO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La tabla no se interpola: o hay fila, o hay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din6885_row() devuelve la fila exacta con su etiqueta NORMATIVE. Fuera del rango de la norma lanza una excepción, para que nadie pueda declarar conformidad DIN con la fila más parecida.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26   filas de sección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b × h, t1, t2, tolerancia de t1 y el incremento d2 para cada banda de diámetro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34   longitudes normalizadas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de 6 a 400 mm; la chaveta se ajusta hacia abajo, nunca hacia arriba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7   bandas de radios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r1 de boca y r2 de fondo por separado: no son el mismo radio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   formas implementadas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y AB. De C a J se rechazan con un mensaje propio, no en silencio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36592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D40, la fila de referencia del proyecto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6E6E73"/>
                </a:solidFill>
                <a:latin typeface="Consolas"/>
              </a:rPr>
              <a:t>38 &lt; d1 ≤ 44 mm     b × h = 12 × 8 mm     t1 = 5,00 +0,20 mm     t2 = 3,30 mm     d2(ref) = 48,00 mm     r1 = 0,25…0,40 mm     r2 = 0,16…0,25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El chaflán de la chaveta no está en la tabla: es un parámetro del usuario (c = 0,8 mm por defecto) y así se declara en el informe.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CAPACIDAD RESISTENTE</a:t>
            </a:r>
          </a:p>
        </p:txBody>
      </p:sp>
      <p:pic>
        <p:nvPicPr>
          <p:cNvPr id="3" name="Picture 2" descr="dia_met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788" y="1170432"/>
            <a:ext cx="102441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RESULTADOS</a:t>
            </a:r>
          </a:p>
        </p:txBody>
      </p:sp>
      <p:pic>
        <p:nvPicPr>
          <p:cNvPr id="3" name="Picture 2" descr="chart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2479"/>
            <a:ext cx="10637215" cy="4683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1 DE 2</a:t>
            </a:r>
          </a:p>
        </p:txBody>
      </p:sp>
      <p:pic>
        <p:nvPicPr>
          <p:cNvPr id="3" name="Picture 2" descr="dia_t2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423" y="1170432"/>
            <a:ext cx="908684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2 DE 2</a:t>
            </a:r>
          </a:p>
        </p:txBody>
      </p:sp>
      <p:pic>
        <p:nvPicPr>
          <p:cNvPr id="3" name="Picture 2" descr="chart_f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38" y="1170432"/>
            <a:ext cx="105680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HALLAZGO ABIERTO</a:t>
            </a:r>
          </a:p>
        </p:txBody>
      </p:sp>
      <p:pic>
        <p:nvPicPr>
          <p:cNvPr id="3" name="Picture 2" descr="dia_e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805" y="1170432"/>
            <a:ext cx="884008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VERIFICACIÓN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1D1D1F"/>
                </a:solidFill>
                <a:latin typeface="Arial"/>
              </a:rPr>
              <a:t>Lo que se ha comprobado, y cómo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Autotest empaquetado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identidad 4.2 y esquema 6, migración 5→6, catálogos DIN y FVA, cálculos de referencia, seis plantillas de malla, informes en los tres idiomas. Termina con código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Paridad de los tres catálogos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650 claves por idioma, sin huecos; cada código de validación tiene su presentación traducida.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Los cuatro presets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normalizan y validan con esquema 6 y cero errores, incluido el de resolución de 10 ciclos.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Compatibilidad con el kernel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los seis módulos que corren dentro de Abaqus se auditaron con AST: sin f-strings, sin anotaciones, sólo os, sys, json, math, time y hashlib. División importada del futuro.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Contrato de artefactos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el proyecto se declara correcto sólo si existen auditoría, BUILD_RESULT, CAE, capturas e informe, y si la malla realizada coincide con la planificada.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Cifras fijadas en el 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999,18 N·m gobernado por el cubo, t2tr = 3,141 mm, f_W de la ecuación 3 y el dominio de K_λ.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Lo que el autotest no hace, y así lo declara: no arranca Abaqus, no resuelve, no compila LaTeX y no valida un especimen FVA.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DISTRIBUCIÓN</a:t>
            </a:r>
          </a:p>
        </p:txBody>
      </p:sp>
      <p:pic>
        <p:nvPicPr>
          <p:cNvPr id="3" name="Picture 2" descr="dia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6351"/>
            <a:ext cx="10637215" cy="3955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ESTADO</a:t>
            </a:r>
          </a:p>
        </p:txBody>
      </p:sp>
      <p:pic>
        <p:nvPicPr>
          <p:cNvPr id="3" name="Picture 2" descr="di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01" y="1170432"/>
            <a:ext cx="9447492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Tres decisiones y una compilación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468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Reconstruir el ejecutable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make_exe.bat, sin cambios, desde el árbol completo del proyecto. El .exe publicado es anterior a las dos correcciones: 17 de 31 entradas del manifiesto han cambiado.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9424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76732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Fijar el signo de la ecuación 9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contra el texto DIN 6892 con licencia. Si el signo negativo es el correcto, el par admisible real baja otro 46 %.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47872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65776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Numerar la versión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dos ejecutables que se identifican como 4.2 y devuelven pares distintos son una colisión de identidad. Mi recomendación es 4.3.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El valor no está en el modelo.
Está en poder demostrar cómo se hizo.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E9EA7"/>
                </a:solidFill>
                <a:latin typeface="Arial"/>
              </a:rPr>
              <a:t>Model Builder 4.2  ·  esquema de parámetros 6  ·  din6892-methods-1.0  ·  auto-mesh-2.0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250" b="0">
                <a:solidFill>
                  <a:srgbClr val="7C7C86"/>
                </a:solidFill>
                <a:latin typeface="Arial"/>
              </a:rPr>
              <a:t>Cada número de esta presentación es reproducible ejecutando el código del repositorio.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